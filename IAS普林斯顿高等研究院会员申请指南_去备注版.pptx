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</p:sldIdLst>
  <p:sldSz cx="12192000" cy="6858000"/>
  <p:notesSz cx="6858000" cy="9144000"/>
  <p:embeddedFontLst>
    <p:embeddedFont>
      <p:font typeface="FZShuSong-Z01"/>
      <p:regular r:id="rId26"/>
    </p:embeddedFont>
    <p:embeddedFont>
      <p:font typeface="FZYaYiHei GB18030L2 R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Relationship Id="rId11" Type="http://schemas.openxmlformats.org/officeDocument/2006/relationships/notesSlide" Target="notesSlides/notesSlide2.xml"/><Relationship Id="rId12" Type="http://schemas.openxmlformats.org/officeDocument/2006/relationships/slide" Target="slides/slide3.xml"/><Relationship Id="rId13" Type="http://schemas.openxmlformats.org/officeDocument/2006/relationships/notesSlide" Target="notesSlides/notesSlide3.xml"/><Relationship Id="rId14" Type="http://schemas.openxmlformats.org/officeDocument/2006/relationships/slide" Target="slides/slide4.xml"/><Relationship Id="rId15" Type="http://schemas.openxmlformats.org/officeDocument/2006/relationships/notesSlide" Target="notesSlides/notesSlide4.xml"/><Relationship Id="rId16" Type="http://schemas.openxmlformats.org/officeDocument/2006/relationships/slide" Target="slides/slide5.xml"/><Relationship Id="rId17" Type="http://schemas.openxmlformats.org/officeDocument/2006/relationships/notesSlide" Target="notesSlides/notesSlide5.xml"/><Relationship Id="rId18" Type="http://schemas.openxmlformats.org/officeDocument/2006/relationships/slide" Target="slides/slide6.xml"/><Relationship Id="rId19" Type="http://schemas.openxmlformats.org/officeDocument/2006/relationships/notesSlide" Target="notesSlides/notesSlide6.xml"/><Relationship Id="rId20" Type="http://schemas.openxmlformats.org/officeDocument/2006/relationships/slide" Target="slides/slide7.xml"/><Relationship Id="rId21" Type="http://schemas.openxmlformats.org/officeDocument/2006/relationships/notesSlide" Target="notesSlides/notesSlide7.xml"/><Relationship Id="rId22" Type="http://schemas.openxmlformats.org/officeDocument/2006/relationships/slide" Target="slides/slide8.xml"/><Relationship Id="rId23" Type="http://schemas.openxmlformats.org/officeDocument/2006/relationships/notesSlide" Target="notesSlides/notesSlide8.xml"/><Relationship Id="rId24" Type="http://schemas.openxmlformats.org/officeDocument/2006/relationships/slide" Target="slides/slide9.xml"/><Relationship Id="rId25" Type="http://schemas.openxmlformats.org/officeDocument/2006/relationships/notesSlide" Target="notesSlides/notesSlide9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fault-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Watermark" Type="http://schemas.openxmlformats.org/officeDocument/2006/relationships/image" Target="../media/watermark_aigc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4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779462" y="2193727"/>
            <a:ext cx="74094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F1F3F5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Institute for Advanced Study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387996" y="2679502"/>
            <a:ext cx="9412959" cy="14019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4800">
                <a:ln/>
                <a:solidFill>
                  <a:srgbClr val="F1F3F5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普林斯顿高等研究院</a:t>
            </a:r>
            <a:endParaRPr lang="en-US" sz="1100"/>
          </a:p>
          <a:p>
            <a:pPr algn="ctr"/>
            <a:r>
              <a:rPr b="true" i="false" strike="noStrike" sz="4800">
                <a:ln/>
                <a:solidFill>
                  <a:srgbClr val="F1F3F5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历史研究部会员申请指南</a:t>
            </a:r>
            <a:endParaRPr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063507" y="4348162"/>
            <a:ext cx="8061938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2027-2028学年申请策略与资助通道全解析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258142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Contents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2952899"/>
            <a:ext cx="4507323" cy="590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42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目录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3825329"/>
            <a:ext cx="4507323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普林斯顿高等研究院历史研究部会员申请指南——从资格框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架到申请策略的完整导航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5421494" y="173161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01</a:t>
            </a:r>
            <a:endParaRPr lang="en-US" sz="1100"/>
          </a:p>
        </p:txBody>
      </p:sp>
      <p:sp>
        <p:nvSpPr>
          <p:cNvPr id="8" name="TextBox 8"/>
          <p:cNvSpPr txBox="true"/>
          <p:nvPr/>
        </p:nvSpPr>
        <p:spPr>
          <a:xfrm flipH="false" flipV="false" rot="0"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核心机会概览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5421494" y="3015555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5421494" y="26536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02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5840490" y="25869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两大资助通道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5421494" y="429949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5421494" y="393754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03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5840490" y="387087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申请材料策略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 flipH="false" flipV="false" rot="0">
            <a:off x="5421494" y="558343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5421494" y="522148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04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5840490" y="515481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行动路线图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Opportunity Overview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52475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1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核心机会概览：关键节点与资格框架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393478"/>
            <a:ext cx="11274781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IAS历史研究部为全球顶尖学者提供最高8万美元的年度资助，申请窗口定于2026年10月15日关闭。严格的博士学位截止时间（2026年7月31日）和居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住要求体现了该项目对学术沉浸与社群互动的重视，无国籍限制确保全球学术人才平等竞争。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47116" y="2201019"/>
            <a:ext cx="123795" cy="123825"/>
          </a:xfrm>
          <a:custGeom>
            <a:rect b="b" l="l" r="r" t="t"/>
            <a:pathLst>
              <a:path h="10000" w="9998">
                <a:moveTo>
                  <a:pt x="2500" y="0"/>
                </a:moveTo>
                <a:lnTo>
                  <a:pt x="3499" y="0"/>
                </a:lnTo>
                <a:lnTo>
                  <a:pt x="3499" y="1000"/>
                </a:lnTo>
                <a:lnTo>
                  <a:pt x="6499" y="1000"/>
                </a:lnTo>
                <a:lnTo>
                  <a:pt x="6499" y="0"/>
                </a:lnTo>
                <a:lnTo>
                  <a:pt x="7499" y="0"/>
                </a:lnTo>
                <a:lnTo>
                  <a:pt x="7499" y="1000"/>
                </a:lnTo>
                <a:lnTo>
                  <a:pt x="9498" y="1000"/>
                </a:lnTo>
                <a:cubicBezTo>
                  <a:pt x="9638" y="1000"/>
                  <a:pt x="9756" y="1048"/>
                  <a:pt x="9853" y="1145"/>
                </a:cubicBezTo>
                <a:cubicBezTo>
                  <a:pt x="9949" y="1241"/>
                  <a:pt x="9998" y="1360"/>
                  <a:pt x="9998" y="1500"/>
                </a:cubicBezTo>
                <a:lnTo>
                  <a:pt x="9998" y="9500"/>
                </a:lnTo>
                <a:cubicBezTo>
                  <a:pt x="9998" y="9640"/>
                  <a:pt x="9949" y="9758"/>
                  <a:pt x="9853" y="9855"/>
                </a:cubicBezTo>
                <a:cubicBezTo>
                  <a:pt x="9756" y="9951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51"/>
                  <a:pt x="145" y="9855"/>
                </a:cubicBezTo>
                <a:cubicBezTo>
                  <a:pt x="48" y="9758"/>
                  <a:pt x="0" y="9640"/>
                  <a:pt x="0" y="9500"/>
                </a:cubicBezTo>
                <a:lnTo>
                  <a:pt x="0" y="1500"/>
                </a:lnTo>
                <a:cubicBezTo>
                  <a:pt x="0" y="1360"/>
                  <a:pt x="48" y="1241"/>
                  <a:pt x="145" y="1145"/>
                </a:cubicBezTo>
                <a:cubicBezTo>
                  <a:pt x="241" y="1048"/>
                  <a:pt x="360" y="1000"/>
                  <a:pt x="500" y="1000"/>
                </a:cubicBezTo>
                <a:lnTo>
                  <a:pt x="2500" y="1000"/>
                </a:lnTo>
                <a:lnTo>
                  <a:pt x="2500" y="0"/>
                </a:lnTo>
                <a:moveTo>
                  <a:pt x="8998" y="9000"/>
                </a:moveTo>
                <a:lnTo>
                  <a:pt x="8998" y="5000"/>
                </a:lnTo>
                <a:lnTo>
                  <a:pt x="1000" y="5000"/>
                </a:lnTo>
                <a:lnTo>
                  <a:pt x="1000" y="9000"/>
                </a:lnTo>
                <a:lnTo>
                  <a:pt x="8998" y="9000"/>
                </a:lnTo>
                <a:moveTo>
                  <a:pt x="2500" y="3000"/>
                </a:moveTo>
                <a:lnTo>
                  <a:pt x="2500" y="2000"/>
                </a:lnTo>
                <a:lnTo>
                  <a:pt x="1000" y="2000"/>
                </a:lnTo>
                <a:lnTo>
                  <a:pt x="1000" y="4000"/>
                </a:lnTo>
                <a:lnTo>
                  <a:pt x="8998" y="4000"/>
                </a:lnTo>
                <a:lnTo>
                  <a:pt x="8998" y="2000"/>
                </a:lnTo>
                <a:lnTo>
                  <a:pt x="7499" y="2000"/>
                </a:lnTo>
                <a:lnTo>
                  <a:pt x="7499" y="3000"/>
                </a:lnTo>
                <a:lnTo>
                  <a:pt x="6499" y="3000"/>
                </a:lnTo>
                <a:lnTo>
                  <a:pt x="6499" y="2000"/>
                </a:lnTo>
                <a:lnTo>
                  <a:pt x="3499" y="2000"/>
                </a:lnTo>
                <a:lnTo>
                  <a:pt x="3499" y="300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618077" y="2191494"/>
            <a:ext cx="528594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关键时间节点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548682"/>
            <a:ext cx="5446937" cy="3852118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548682"/>
            <a:ext cx="544693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76106" y="2786807"/>
            <a:ext cx="45708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截止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1247463" y="2767757"/>
            <a:ext cx="250385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2026.10.15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1247463" y="3076278"/>
            <a:ext cx="254194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申请截止，录取结果于2027年2月邮件通知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76106" y="3428703"/>
            <a:ext cx="45708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任期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1247463" y="3409653"/>
            <a:ext cx="245267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2027-2028学年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1247463" y="3718173"/>
            <a:ext cx="249076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秋季学期 9.20-12.17 / 春季学期 1.10-4.14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676106" y="4070598"/>
            <a:ext cx="45708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资助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1247463" y="4051548"/>
            <a:ext cx="301495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最高 $80,000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1247463" y="4360069"/>
            <a:ext cx="305304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全学年资助，单学期最高$40,000，含限额差旅报销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6274960" y="2201019"/>
            <a:ext cx="123795" cy="123825"/>
          </a:xfrm>
          <a:custGeom>
            <a:rect b="b" l="l" r="r" t="t"/>
            <a:pathLst>
              <a:path h="10000" w="9998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6445921" y="2191494"/>
            <a:ext cx="528594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核心资格要求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 flipH="false" flipV="false" rot="0">
            <a:off x="6284928" y="2548682"/>
            <a:ext cx="5446937" cy="3852118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6284928" y="2548682"/>
            <a:ext cx="5446937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6503948" y="2777282"/>
            <a:ext cx="500889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博士学位截止期限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6503948" y="3076278"/>
            <a:ext cx="5227918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须于</a:t>
            </a:r>
            <a:r>
              <a:rPr b="true" i="false" strike="noStrike" sz="10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2026年7月31日前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获得博士学位，申请时具备实质性发表记录，确保成熟学术身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份与独立研究能力。</a:t>
            </a:r>
            <a:endParaRPr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6503948" y="3655219"/>
            <a:ext cx="500889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强制性居住要求</a:t>
            </a:r>
            <a:endParaRPr lang="en-US" sz="1100"/>
          </a:p>
        </p:txBody>
      </p:sp>
      <p:sp>
        <p:nvSpPr>
          <p:cNvPr id="26" name="TextBox 26"/>
          <p:cNvSpPr txBox="true"/>
          <p:nvPr/>
        </p:nvSpPr>
        <p:spPr>
          <a:xfrm flipH="false" flipV="false" rot="0">
            <a:off x="6503948" y="3954215"/>
            <a:ext cx="5227918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会员须实际居住于</a:t>
            </a:r>
            <a:r>
              <a:rPr b="true" i="false" strike="noStrike" sz="10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普林斯顿或周边地区</a:t>
            </a:r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，旨在促进跨学科深度交流，避免"挂名式"访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学削弱社群活力。</a:t>
            </a:r>
            <a:endParaRPr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6503948" y="4533156"/>
            <a:ext cx="500889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无国籍限制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6503948" y="4832152"/>
            <a:ext cx="5227918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面向全球学者开放申请，确保各国学术人才在平等基础上竞争，体现IAS国际化视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野。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Mellon Fellowship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1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资助通道一：梅隆助理教授奖学金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413421"/>
            <a:ext cx="11274781" cy="855166"/>
          </a:xfrm>
          <a:prstGeom prst="rect">
            <a:avLst/>
          </a:prstGeom>
          <a:solidFill>
            <a:srgbClr val="E8EBEF">
              <a:alpha val="85098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flipH="false" flipV="false" rot="0">
            <a:off x="457086" y="1413421"/>
            <a:ext cx="9522" cy="855166"/>
          </a:xfrm>
          <a:prstGeom prst="line">
            <a:avLst/>
          </a:prstGeom>
          <a:ln w="19050">
            <a:solidFill>
              <a:srgbClr val="5B8CB8">
                <a:alpha val="85098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686745" y="1613446"/>
            <a:ext cx="161884" cy="161925"/>
          </a:xfrm>
          <a:custGeom>
            <a:rect b="b" l="l" r="r" t="t"/>
            <a:pathLst>
              <a:path h="10000" w="9998">
                <a:moveTo>
                  <a:pt x="3737" y="7619"/>
                </a:moveTo>
                <a:lnTo>
                  <a:pt x="4374" y="7619"/>
                </a:lnTo>
                <a:lnTo>
                  <a:pt x="4374" y="5238"/>
                </a:lnTo>
                <a:lnTo>
                  <a:pt x="5624" y="5238"/>
                </a:lnTo>
                <a:lnTo>
                  <a:pt x="5624" y="7619"/>
                </a:lnTo>
                <a:lnTo>
                  <a:pt x="6261" y="7619"/>
                </a:lnTo>
                <a:cubicBezTo>
                  <a:pt x="6303" y="7346"/>
                  <a:pt x="6419" y="7079"/>
                  <a:pt x="6611" y="6819"/>
                </a:cubicBezTo>
                <a:cubicBezTo>
                  <a:pt x="6777" y="6584"/>
                  <a:pt x="7023" y="6330"/>
                  <a:pt x="7349" y="6057"/>
                </a:cubicBezTo>
                <a:lnTo>
                  <a:pt x="7523" y="5914"/>
                </a:lnTo>
                <a:cubicBezTo>
                  <a:pt x="7765" y="5724"/>
                  <a:pt x="7898" y="5619"/>
                  <a:pt x="7923" y="5600"/>
                </a:cubicBezTo>
                <a:cubicBezTo>
                  <a:pt x="8189" y="5346"/>
                  <a:pt x="8394" y="5066"/>
                  <a:pt x="8536" y="4762"/>
                </a:cubicBezTo>
                <a:cubicBezTo>
                  <a:pt x="8677" y="4457"/>
                  <a:pt x="8748" y="4140"/>
                  <a:pt x="8748" y="3810"/>
                </a:cubicBezTo>
                <a:cubicBezTo>
                  <a:pt x="8748" y="3295"/>
                  <a:pt x="8577" y="2815"/>
                  <a:pt x="8236" y="2371"/>
                </a:cubicBezTo>
                <a:cubicBezTo>
                  <a:pt x="7902" y="1939"/>
                  <a:pt x="7452" y="1597"/>
                  <a:pt x="6886" y="1343"/>
                </a:cubicBezTo>
                <a:cubicBezTo>
                  <a:pt x="6302" y="1082"/>
                  <a:pt x="5673" y="952"/>
                  <a:pt x="4999" y="952"/>
                </a:cubicBezTo>
                <a:cubicBezTo>
                  <a:pt x="4324" y="952"/>
                  <a:pt x="3695" y="1082"/>
                  <a:pt x="3112" y="1343"/>
                </a:cubicBezTo>
                <a:cubicBezTo>
                  <a:pt x="2545" y="1597"/>
                  <a:pt x="2095" y="1939"/>
                  <a:pt x="1762" y="2371"/>
                </a:cubicBezTo>
                <a:cubicBezTo>
                  <a:pt x="1420" y="2815"/>
                  <a:pt x="1250" y="3295"/>
                  <a:pt x="1250" y="3810"/>
                </a:cubicBezTo>
                <a:cubicBezTo>
                  <a:pt x="1250" y="4140"/>
                  <a:pt x="1320" y="4457"/>
                  <a:pt x="1462" y="4762"/>
                </a:cubicBezTo>
                <a:cubicBezTo>
                  <a:pt x="1604" y="5066"/>
                  <a:pt x="1808" y="5342"/>
                  <a:pt x="2075" y="5590"/>
                </a:cubicBezTo>
                <a:cubicBezTo>
                  <a:pt x="2099" y="5616"/>
                  <a:pt x="2233" y="5724"/>
                  <a:pt x="2475" y="5914"/>
                </a:cubicBezTo>
                <a:lnTo>
                  <a:pt x="2649" y="6057"/>
                </a:lnTo>
                <a:cubicBezTo>
                  <a:pt x="2974" y="6330"/>
                  <a:pt x="3220" y="6584"/>
                  <a:pt x="3387" y="6819"/>
                </a:cubicBezTo>
                <a:cubicBezTo>
                  <a:pt x="3578" y="7079"/>
                  <a:pt x="3695" y="7346"/>
                  <a:pt x="3737" y="7619"/>
                </a:cubicBezTo>
                <a:moveTo>
                  <a:pt x="6249" y="8571"/>
                </a:moveTo>
                <a:lnTo>
                  <a:pt x="3749" y="8571"/>
                </a:lnTo>
                <a:lnTo>
                  <a:pt x="3749" y="9048"/>
                </a:lnTo>
                <a:lnTo>
                  <a:pt x="6249" y="9048"/>
                </a:lnTo>
                <a:lnTo>
                  <a:pt x="6249" y="8571"/>
                </a:lnTo>
                <a:moveTo>
                  <a:pt x="1100" y="6190"/>
                </a:moveTo>
                <a:cubicBezTo>
                  <a:pt x="750" y="5860"/>
                  <a:pt x="479" y="5495"/>
                  <a:pt x="287" y="5095"/>
                </a:cubicBezTo>
                <a:cubicBezTo>
                  <a:pt x="95" y="4682"/>
                  <a:pt x="0" y="4254"/>
                  <a:pt x="0" y="3810"/>
                </a:cubicBezTo>
                <a:cubicBezTo>
                  <a:pt x="0" y="3117"/>
                  <a:pt x="229" y="2476"/>
                  <a:pt x="687" y="1886"/>
                </a:cubicBezTo>
                <a:cubicBezTo>
                  <a:pt x="1129" y="1314"/>
                  <a:pt x="1725" y="860"/>
                  <a:pt x="2475" y="524"/>
                </a:cubicBezTo>
                <a:cubicBezTo>
                  <a:pt x="3249" y="174"/>
                  <a:pt x="4091" y="0"/>
                  <a:pt x="4999" y="0"/>
                </a:cubicBezTo>
                <a:cubicBezTo>
                  <a:pt x="5907" y="0"/>
                  <a:pt x="6748" y="174"/>
                  <a:pt x="7523" y="524"/>
                </a:cubicBezTo>
                <a:cubicBezTo>
                  <a:pt x="8273" y="860"/>
                  <a:pt x="8869" y="1314"/>
                  <a:pt x="9311" y="1886"/>
                </a:cubicBezTo>
                <a:cubicBezTo>
                  <a:pt x="9769" y="2476"/>
                  <a:pt x="9998" y="3117"/>
                  <a:pt x="9998" y="3810"/>
                </a:cubicBezTo>
                <a:cubicBezTo>
                  <a:pt x="9998" y="4254"/>
                  <a:pt x="9902" y="4682"/>
                  <a:pt x="9711" y="5095"/>
                </a:cubicBezTo>
                <a:cubicBezTo>
                  <a:pt x="9519" y="5495"/>
                  <a:pt x="9248" y="5860"/>
                  <a:pt x="8898" y="6190"/>
                </a:cubicBezTo>
                <a:cubicBezTo>
                  <a:pt x="8840" y="6247"/>
                  <a:pt x="8723" y="6342"/>
                  <a:pt x="8548" y="6476"/>
                </a:cubicBezTo>
                <a:cubicBezTo>
                  <a:pt x="8223" y="6736"/>
                  <a:pt x="7994" y="6943"/>
                  <a:pt x="7861" y="7095"/>
                </a:cubicBezTo>
                <a:cubicBezTo>
                  <a:pt x="7619" y="7361"/>
                  <a:pt x="7499" y="7615"/>
                  <a:pt x="7499" y="7857"/>
                </a:cubicBezTo>
                <a:lnTo>
                  <a:pt x="7499" y="9048"/>
                </a:lnTo>
                <a:cubicBezTo>
                  <a:pt x="7499" y="9219"/>
                  <a:pt x="7442" y="9378"/>
                  <a:pt x="7330" y="9524"/>
                </a:cubicBezTo>
                <a:cubicBezTo>
                  <a:pt x="7217" y="9670"/>
                  <a:pt x="7065" y="9785"/>
                  <a:pt x="6874" y="9871"/>
                </a:cubicBezTo>
                <a:cubicBezTo>
                  <a:pt x="6682" y="9957"/>
                  <a:pt x="6473" y="10000"/>
                  <a:pt x="6249" y="10000"/>
                </a:cubicBezTo>
                <a:lnTo>
                  <a:pt x="3749" y="10000"/>
                </a:lnTo>
                <a:cubicBezTo>
                  <a:pt x="3524" y="10000"/>
                  <a:pt x="3316" y="9957"/>
                  <a:pt x="3124" y="9871"/>
                </a:cubicBezTo>
                <a:cubicBezTo>
                  <a:pt x="2932" y="9785"/>
                  <a:pt x="2780" y="9670"/>
                  <a:pt x="2668" y="9524"/>
                </a:cubicBezTo>
                <a:cubicBezTo>
                  <a:pt x="2556" y="9378"/>
                  <a:pt x="2500" y="9219"/>
                  <a:pt x="2500" y="9048"/>
                </a:cubicBezTo>
                <a:lnTo>
                  <a:pt x="2500" y="7857"/>
                </a:lnTo>
                <a:cubicBezTo>
                  <a:pt x="2500" y="7615"/>
                  <a:pt x="2379" y="7361"/>
                  <a:pt x="2137" y="7095"/>
                </a:cubicBezTo>
                <a:cubicBezTo>
                  <a:pt x="2003" y="6943"/>
                  <a:pt x="1774" y="6736"/>
                  <a:pt x="1450" y="6476"/>
                </a:cubicBezTo>
                <a:cubicBezTo>
                  <a:pt x="1274" y="6342"/>
                  <a:pt x="1158" y="6247"/>
                  <a:pt x="1100" y="619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906880" y="1603921"/>
            <a:ext cx="10824986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梅隆奖学金专为美加高校现任助理教授设计，要求博士获得时间在2020年1月至2026年7月之间，核心约束是访学后必须返回原机构。该通道通过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2027年1月15日的视频面试筛选候选人，实质上是资助已有稳定教职但需集中时间完成研究项目的学者。</a:t>
            </a:r>
            <a:endParaRPr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457086" y="2963912"/>
            <a:ext cx="5485028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435958" y="2597200"/>
            <a:ext cx="190452" cy="190500"/>
          </a:xfrm>
          <a:custGeom>
            <a:rect b="b" l="l" r="r" t="t"/>
            <a:pathLst>
              <a:path h="10000" w="9998">
                <a:moveTo>
                  <a:pt x="1250" y="10000"/>
                </a:moveTo>
                <a:lnTo>
                  <a:pt x="0" y="10000"/>
                </a:lnTo>
                <a:cubicBezTo>
                  <a:pt x="0" y="9308"/>
                  <a:pt x="229" y="8666"/>
                  <a:pt x="687" y="8076"/>
                </a:cubicBezTo>
                <a:cubicBezTo>
                  <a:pt x="1129" y="7504"/>
                  <a:pt x="1725" y="7050"/>
                  <a:pt x="2475" y="6714"/>
                </a:cubicBezTo>
                <a:cubicBezTo>
                  <a:pt x="3249" y="6364"/>
                  <a:pt x="4091" y="6190"/>
                  <a:pt x="4999" y="6190"/>
                </a:cubicBezTo>
                <a:cubicBezTo>
                  <a:pt x="5907" y="6190"/>
                  <a:pt x="6748" y="6364"/>
                  <a:pt x="7523" y="6714"/>
                </a:cubicBezTo>
                <a:cubicBezTo>
                  <a:pt x="8273" y="7050"/>
                  <a:pt x="8869" y="7504"/>
                  <a:pt x="9311" y="8076"/>
                </a:cubicBezTo>
                <a:cubicBezTo>
                  <a:pt x="9769" y="8666"/>
                  <a:pt x="9998" y="9308"/>
                  <a:pt x="9998" y="10000"/>
                </a:cubicBezTo>
                <a:lnTo>
                  <a:pt x="8748" y="10000"/>
                </a:lnTo>
                <a:cubicBezTo>
                  <a:pt x="8748" y="9486"/>
                  <a:pt x="8577" y="9006"/>
                  <a:pt x="8236" y="8562"/>
                </a:cubicBezTo>
                <a:cubicBezTo>
                  <a:pt x="7902" y="8130"/>
                  <a:pt x="7452" y="7787"/>
                  <a:pt x="6886" y="7533"/>
                </a:cubicBezTo>
                <a:cubicBezTo>
                  <a:pt x="6302" y="7273"/>
                  <a:pt x="5673" y="7143"/>
                  <a:pt x="4999" y="7143"/>
                </a:cubicBezTo>
                <a:cubicBezTo>
                  <a:pt x="4324" y="7143"/>
                  <a:pt x="3695" y="7273"/>
                  <a:pt x="3112" y="7533"/>
                </a:cubicBezTo>
                <a:cubicBezTo>
                  <a:pt x="2545" y="7787"/>
                  <a:pt x="2095" y="8130"/>
                  <a:pt x="1762" y="8562"/>
                </a:cubicBezTo>
                <a:cubicBezTo>
                  <a:pt x="1420" y="9006"/>
                  <a:pt x="1250" y="9486"/>
                  <a:pt x="1250" y="10000"/>
                </a:cubicBezTo>
                <a:moveTo>
                  <a:pt x="4999" y="5714"/>
                </a:moveTo>
                <a:cubicBezTo>
                  <a:pt x="4315" y="5714"/>
                  <a:pt x="3686" y="5584"/>
                  <a:pt x="3112" y="5324"/>
                </a:cubicBezTo>
                <a:cubicBezTo>
                  <a:pt x="2545" y="5070"/>
                  <a:pt x="2095" y="4727"/>
                  <a:pt x="1762" y="4295"/>
                </a:cubicBezTo>
                <a:cubicBezTo>
                  <a:pt x="1420" y="3857"/>
                  <a:pt x="1250" y="3377"/>
                  <a:pt x="1250" y="2857"/>
                </a:cubicBezTo>
                <a:cubicBezTo>
                  <a:pt x="1250" y="2336"/>
                  <a:pt x="1420" y="1857"/>
                  <a:pt x="1762" y="1419"/>
                </a:cubicBezTo>
                <a:cubicBezTo>
                  <a:pt x="2095" y="987"/>
                  <a:pt x="2545" y="644"/>
                  <a:pt x="3112" y="390"/>
                </a:cubicBezTo>
                <a:cubicBezTo>
                  <a:pt x="3686" y="130"/>
                  <a:pt x="4315" y="0"/>
                  <a:pt x="4999" y="0"/>
                </a:cubicBezTo>
                <a:cubicBezTo>
                  <a:pt x="5682" y="0"/>
                  <a:pt x="6311" y="130"/>
                  <a:pt x="6886" y="390"/>
                </a:cubicBezTo>
                <a:cubicBezTo>
                  <a:pt x="7452" y="644"/>
                  <a:pt x="7902" y="987"/>
                  <a:pt x="8236" y="1419"/>
                </a:cubicBezTo>
                <a:cubicBezTo>
                  <a:pt x="8577" y="1857"/>
                  <a:pt x="8748" y="2336"/>
                  <a:pt x="8748" y="2857"/>
                </a:cubicBezTo>
                <a:cubicBezTo>
                  <a:pt x="8748" y="3377"/>
                  <a:pt x="8577" y="3857"/>
                  <a:pt x="8236" y="4295"/>
                </a:cubicBezTo>
                <a:cubicBezTo>
                  <a:pt x="7902" y="4727"/>
                  <a:pt x="7452" y="5070"/>
                  <a:pt x="6886" y="5324"/>
                </a:cubicBezTo>
                <a:cubicBezTo>
                  <a:pt x="6311" y="5584"/>
                  <a:pt x="5682" y="5714"/>
                  <a:pt x="4999" y="5714"/>
                </a:cubicBezTo>
                <a:moveTo>
                  <a:pt x="4999" y="4762"/>
                </a:moveTo>
                <a:cubicBezTo>
                  <a:pt x="5449" y="4762"/>
                  <a:pt x="5865" y="4676"/>
                  <a:pt x="6249" y="4505"/>
                </a:cubicBezTo>
                <a:cubicBezTo>
                  <a:pt x="6632" y="4333"/>
                  <a:pt x="6936" y="4102"/>
                  <a:pt x="7161" y="3810"/>
                </a:cubicBezTo>
                <a:cubicBezTo>
                  <a:pt x="7385" y="3517"/>
                  <a:pt x="7498" y="3199"/>
                  <a:pt x="7498" y="2857"/>
                </a:cubicBezTo>
                <a:cubicBezTo>
                  <a:pt x="7498" y="2514"/>
                  <a:pt x="7385" y="2197"/>
                  <a:pt x="7161" y="1905"/>
                </a:cubicBezTo>
                <a:cubicBezTo>
                  <a:pt x="6936" y="1613"/>
                  <a:pt x="6632" y="1381"/>
                  <a:pt x="6249" y="1210"/>
                </a:cubicBezTo>
                <a:cubicBezTo>
                  <a:pt x="5865" y="1038"/>
                  <a:pt x="5449" y="952"/>
                  <a:pt x="4999" y="952"/>
                </a:cubicBezTo>
                <a:cubicBezTo>
                  <a:pt x="4549" y="952"/>
                  <a:pt x="4132" y="1038"/>
                  <a:pt x="3749" y="1210"/>
                </a:cubicBezTo>
                <a:cubicBezTo>
                  <a:pt x="3365" y="1381"/>
                  <a:pt x="3061" y="1613"/>
                  <a:pt x="2837" y="1905"/>
                </a:cubicBezTo>
                <a:cubicBezTo>
                  <a:pt x="2612" y="2197"/>
                  <a:pt x="2500" y="2514"/>
                  <a:pt x="2500" y="2857"/>
                </a:cubicBezTo>
                <a:cubicBezTo>
                  <a:pt x="2500" y="3199"/>
                  <a:pt x="2612" y="3517"/>
                  <a:pt x="2837" y="3810"/>
                </a:cubicBezTo>
                <a:cubicBezTo>
                  <a:pt x="3061" y="4102"/>
                  <a:pt x="3365" y="4333"/>
                  <a:pt x="3749" y="4505"/>
                </a:cubicBezTo>
                <a:cubicBezTo>
                  <a:pt x="4132" y="4676"/>
                  <a:pt x="4549" y="4762"/>
                  <a:pt x="4999" y="4762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719553" y="2573387"/>
            <a:ext cx="194261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资格条件与目标人群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457086" y="3182987"/>
            <a:ext cx="11274781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■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申请者必须 currently 担任美国或加拿大高校的助理教授职位，且博士学位获得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时间介于2020年1月1日至2026年7月31日之间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457086" y="3922067"/>
            <a:ext cx="11274781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■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面向已有稳定教职但需要集中研究时间推进专著或重要项目的学者，资助额度与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普通会员一致（最高$80,000/年）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246838" y="2963912"/>
            <a:ext cx="5485028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6225710" y="2597200"/>
            <a:ext cx="190452" cy="190500"/>
          </a:xfrm>
          <a:custGeom>
            <a:rect b="b" l="l" r="r" t="t"/>
            <a:pathLst>
              <a:path h="10000" w="9998">
                <a:moveTo>
                  <a:pt x="0" y="9444"/>
                </a:move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moveTo>
                  <a:pt x="8887" y="1111"/>
                </a:moveTo>
                <a:lnTo>
                  <a:pt x="1111" y="1111"/>
                </a:lnTo>
                <a:lnTo>
                  <a:pt x="1111" y="8889"/>
                </a:lnTo>
                <a:lnTo>
                  <a:pt x="8887" y="8889"/>
                </a:lnTo>
                <a:lnTo>
                  <a:pt x="8887" y="1111"/>
                </a:lnTo>
                <a:moveTo>
                  <a:pt x="4232" y="3011"/>
                </a:moveTo>
                <a:lnTo>
                  <a:pt x="6943" y="4811"/>
                </a:lnTo>
                <a:cubicBezTo>
                  <a:pt x="6995" y="4848"/>
                  <a:pt x="7026" y="4896"/>
                  <a:pt x="7037" y="4956"/>
                </a:cubicBezTo>
                <a:cubicBezTo>
                  <a:pt x="7048" y="5014"/>
                  <a:pt x="7039" y="5070"/>
                  <a:pt x="7010" y="5122"/>
                </a:cubicBezTo>
                <a:cubicBezTo>
                  <a:pt x="6987" y="5144"/>
                  <a:pt x="6965" y="5167"/>
                  <a:pt x="6943" y="5189"/>
                </a:cubicBezTo>
                <a:lnTo>
                  <a:pt x="4232" y="6989"/>
                </a:lnTo>
                <a:cubicBezTo>
                  <a:pt x="4180" y="7025"/>
                  <a:pt x="4125" y="7038"/>
                  <a:pt x="4066" y="7028"/>
                </a:cubicBezTo>
                <a:cubicBezTo>
                  <a:pt x="4006" y="7016"/>
                  <a:pt x="3958" y="6985"/>
                  <a:pt x="3921" y="6933"/>
                </a:cubicBezTo>
                <a:cubicBezTo>
                  <a:pt x="3899" y="6896"/>
                  <a:pt x="3888" y="6855"/>
                  <a:pt x="3888" y="6811"/>
                </a:cubicBezTo>
                <a:lnTo>
                  <a:pt x="3888" y="3189"/>
                </a:lnTo>
                <a:cubicBezTo>
                  <a:pt x="3888" y="3129"/>
                  <a:pt x="3910" y="3077"/>
                  <a:pt x="3955" y="3033"/>
                </a:cubicBezTo>
                <a:cubicBezTo>
                  <a:pt x="3999" y="2989"/>
                  <a:pt x="4050" y="2967"/>
                  <a:pt x="4110" y="2967"/>
                </a:cubicBezTo>
                <a:cubicBezTo>
                  <a:pt x="4154" y="2967"/>
                  <a:pt x="4195" y="2981"/>
                  <a:pt x="4232" y="301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6509305" y="2573387"/>
            <a:ext cx="1942614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面试机制与职业约束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6246838" y="3182987"/>
            <a:ext cx="5488897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■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短名单候选人将于2027年1月15日受邀参加视频面试，这是与普通会员申请的关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键区别，增加了面对面评估环节</a:t>
            </a:r>
            <a:endParaRPr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6246838" y="3922067"/>
            <a:ext cx="5505265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■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硬性约束要求获得者必须能在访学结束后返回当前机构任职，不适合正在寻找新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职位或考虑职业转换的申请者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FUNDING TRACK 02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143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资助通道二：博士后奖学金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14450"/>
            <a:ext cx="11274781" cy="822723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flipH="false" flipV="false" rot="0">
            <a:off x="457086" y="1314450"/>
            <a:ext cx="9522" cy="822723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676106" y="1504950"/>
            <a:ext cx="11512846" cy="43993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200">
                <a:ln/>
                <a:solidFill>
                  <a:srgbClr val="0A1F3D">
                    <a:alpha val="94901"/>
                  </a:srgbClr>
                </a:solidFill>
                <a:latin typeface="FZShuSong-Z01"/>
                <a:ea typeface="FZShuSong-Z01"/>
                <a:cs typeface="FZShuSong-Z01"/>
              </a:rPr>
              <a:t>博士后奖学金面向2024年7月至2026年8月期间获得博士学位的早期职业学者，年薪75,000美元且可续签，但名额极其有限（中世纪研究1名、欧洲与世界</a:t>
            </a:r>
            <a:endParaRPr lang="en-US" sz="1100"/>
          </a:p>
          <a:p>
            <a:pPr algn="l"/>
            <a:r>
              <a:rPr b="false" i="true" strike="noStrike" sz="1200">
                <a:ln/>
                <a:solidFill>
                  <a:srgbClr val="0A1F3D">
                    <a:alpha val="94901"/>
                  </a:srgbClr>
                </a:solidFill>
                <a:latin typeface="FZShuSong-Z01"/>
                <a:ea typeface="FZShuSong-Z01"/>
                <a:cs typeface="FZShuSong-Z01"/>
              </a:rPr>
              <a:t>1800年后2个）。与梅隆通道相比，它不要求返回原机构，实质上是提供2-3年的研究缓冲期，但严格的领域配额意味着竞争高度激烈。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365771"/>
            <a:ext cx="5485028" cy="403502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365771"/>
            <a:ext cx="548502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95151" y="2661048"/>
            <a:ext cx="500889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资格条件与领域配额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688828" y="3180159"/>
            <a:ext cx="57136" cy="571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853911" y="3137296"/>
            <a:ext cx="4850138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博士获得时间窗口为2024年7月1日至2026年8月31日，面向比梅隆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通道更早期的职业阶段，且必须至少有一篇同行评审发表作品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688828" y="3937398"/>
            <a:ext cx="57136" cy="571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853911" y="3894535"/>
            <a:ext cx="4859214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名额极其稀缺：中世纪研究仅开放1个职位，欧洲与世界1800年后开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放2个职位，申请者需精准匹配领域方向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 flipH="false" flipV="false" rot="0">
            <a:off x="688828" y="4694635"/>
            <a:ext cx="57136" cy="571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853911" y="4651773"/>
            <a:ext cx="4877366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申请截止日期为2025年9月15日，需提前准备完整的学术履历和研究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计划书，建议尽早开始材料整理工作</a:t>
            </a:r>
            <a:endParaRPr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6246838" y="2365771"/>
            <a:ext cx="5485028" cy="403502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6246838" y="2365771"/>
            <a:ext cx="548502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484903" y="2661048"/>
            <a:ext cx="500889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待遇优势与续签机制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6478580" y="3180159"/>
            <a:ext cx="57136" cy="571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6643663" y="3137296"/>
            <a:ext cx="4850138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年度津贴高达75,000美元，显著高于普通博士后标准，且明确提供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续签至2028-2029学年的可能性，总资助期可达两年</a:t>
            </a:r>
            <a:endParaRPr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6478580" y="3937398"/>
            <a:ext cx="57136" cy="571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6643663" y="3894535"/>
            <a:ext cx="4850138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不强制要求返回原机构，适合希望利用访学期间寻找教职或转换研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究方向的早期学者，灵活性高于梅隆通道</a:t>
            </a:r>
            <a:endParaRPr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6478580" y="4694635"/>
            <a:ext cx="57136" cy="571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5679" y="10000"/>
                  <a:pt x="6329" y="9870"/>
                  <a:pt x="6949" y="9610"/>
                </a:cubicBezTo>
                <a:cubicBezTo>
                  <a:pt x="7541" y="9356"/>
                  <a:pt x="8069" y="8998"/>
                  <a:pt x="8533" y="8535"/>
                </a:cubicBezTo>
                <a:cubicBezTo>
                  <a:pt x="8996" y="8071"/>
                  <a:pt x="9354" y="7543"/>
                  <a:pt x="9608" y="6950"/>
                </a:cubicBezTo>
                <a:cubicBezTo>
                  <a:pt x="9868" y="6330"/>
                  <a:pt x="9998" y="5680"/>
                  <a:pt x="9998" y="5000"/>
                </a:cubicBezTo>
                <a:cubicBezTo>
                  <a:pt x="9998" y="4320"/>
                  <a:pt x="9868" y="3670"/>
                  <a:pt x="9608" y="3050"/>
                </a:cubicBezTo>
                <a:cubicBezTo>
                  <a:pt x="9354" y="2456"/>
                  <a:pt x="8996" y="1928"/>
                  <a:pt x="8533" y="1465"/>
                </a:cubicBezTo>
                <a:cubicBezTo>
                  <a:pt x="8069" y="1001"/>
                  <a:pt x="7541" y="643"/>
                  <a:pt x="6949" y="390"/>
                </a:cubicBezTo>
                <a:cubicBezTo>
                  <a:pt x="6329" y="130"/>
                  <a:pt x="5679" y="0"/>
                  <a:pt x="4999" y="0"/>
                </a:cubicBezTo>
                <a:cubicBezTo>
                  <a:pt x="4319" y="0"/>
                  <a:pt x="3669" y="130"/>
                  <a:pt x="3049" y="390"/>
                </a:cubicBezTo>
                <a:cubicBezTo>
                  <a:pt x="2456" y="643"/>
                  <a:pt x="1928" y="1001"/>
                  <a:pt x="1465" y="1465"/>
                </a:cubicBezTo>
                <a:cubicBezTo>
                  <a:pt x="1001" y="1928"/>
                  <a:pt x="643" y="2456"/>
                  <a:pt x="390" y="3050"/>
                </a:cubicBezTo>
                <a:cubicBezTo>
                  <a:pt x="130" y="3670"/>
                  <a:pt x="0" y="4320"/>
                  <a:pt x="0" y="5000"/>
                </a:cubicBezTo>
                <a:cubicBezTo>
                  <a:pt x="0" y="5680"/>
                  <a:pt x="130" y="6330"/>
                  <a:pt x="390" y="6950"/>
                </a:cubicBezTo>
                <a:cubicBezTo>
                  <a:pt x="643" y="7543"/>
                  <a:pt x="1001" y="8071"/>
                  <a:pt x="1465" y="8535"/>
                </a:cubicBezTo>
                <a:cubicBezTo>
                  <a:pt x="1928" y="8998"/>
                  <a:pt x="2456" y="9356"/>
                  <a:pt x="3049" y="9610"/>
                </a:cubicBezTo>
                <a:cubicBezTo>
                  <a:pt x="3669" y="9870"/>
                  <a:pt x="4319" y="10000"/>
                  <a:pt x="4999" y="10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true"/>
          <p:nvPr/>
        </p:nvSpPr>
        <p:spPr>
          <a:xfrm flipH="false" flipV="false" rot="0">
            <a:off x="6643663" y="4651773"/>
            <a:ext cx="4850138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入选者可享受研究院完善的学术资源与设施支持，参与高端学术社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群活动，建立国际学术人脉网络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APPLICATION MATERIALS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52475"/>
            <a:ext cx="11274781" cy="4000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28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申请材料清单与提交要求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67730"/>
            <a:ext cx="11274781" cy="752475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flipH="false" flipV="false" rot="0">
            <a:off x="457086" y="1367730"/>
            <a:ext cx="9522" cy="75247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676106" y="1539180"/>
            <a:ext cx="1151284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核心要点：</a:t>
            </a:r>
            <a:r>
              <a:rPr b="false" i="false" strike="noStrike" sz="11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IAS申请采用五材料+条件性推荐信的组合，其中1500词研究计划是决定性文书。三篇写作样本必须来自同行评审来源，2020年后获博士学位者需额外提交两封推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荐信。所有材料必须在2026年10月15日前完整提交。</a:t>
            </a:r>
            <a:endParaRPr/>
          </a:p>
        </p:txBody>
      </p:sp>
      <p:sp>
        <p:nvSpPr>
          <p:cNvPr id="8" name="TextBox 8"/>
          <p:cNvSpPr txBox="true"/>
          <p:nvPr/>
        </p:nvSpPr>
        <p:spPr>
          <a:xfrm flipH="false" flipV="false" rot="0">
            <a:off x="457086" y="2339280"/>
            <a:ext cx="1127478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申请材料清单与具体要求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true"/>
          </p:cNvGraphicFramePr>
          <p:nvPr/>
        </p:nvGraphicFramePr>
        <p:xfrm>
          <a:off x="457086" y="2682180"/>
          <a:ext cx="11274781" cy="2952750"/>
        </p:xfrm>
        <a:graphic>
          <a:graphicData uri="http://schemas.openxmlformats.org/drawingml/2006/table">
            <a:tbl>
              <a:tblPr/>
              <a:tblGrid>
                <a:gridCol w="2019300"/>
                <a:gridCol w="3149600"/>
                <a:gridCol w="6083300"/>
              </a:tblGrid>
              <a:tr h="431800">
                <a:tc gridSpan="1" rowSpan="1">
                  <a:txBody>
                    <a:bodyPr anchor="ctr" anchorCtr="false" bIns="114300" lIns="133350" rIns="133350" rot="0" tIns="11430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材料项目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14300" lIns="133350" rIns="133350" rot="0" tIns="11430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具体要求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ctr" anchorCtr="false" bIns="114300" lIns="133350" rIns="133350" rot="0" tIns="114300" vert="horz" wrap="square"/>
                    <a:p>
                      <a:pPr algn="l">
                        <a:def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tru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关键提示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19100"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在线申请表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通过IAS官网系统提交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确保所有字段完整填写，截止日期为美东时间10月15日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06400"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Curriculum Vitae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标准学术简历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突出发表记录与研究经历，无需限制页数但需精炼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06400"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研究计划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最多1,500词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true" i="false" strike="noStrike" sz="1000">
                          <a:ln/>
                          <a:solidFill>
                            <a:srgbClr val="5B8CB8">
                              <a:alpha val="85098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defRPr>
                      </a:pPr>
                      <a:r>
                        <a:rPr b="true" i="false" strike="noStrike" sz="1000">
                          <a:ln/>
                          <a:solidFill>
                            <a:srgbClr val="5B8CB8">
                              <a:alpha val="85098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核心文书</a:t>
                      </a:r>
                      <a:r>
                        <a:rPr b="false" i="false" strike="noStrike" sz="1000">
                          <a:ln/>
                          <a:solidFill>
                            <a:srgbClr val="0A1F3D">
                              <a:alpha val="85098"/>
                            </a:srgbClr>
                          </a:solidFill>
                          <a:latin typeface="FZYaYiHei GB18030L2 R"/>
                          <a:ea typeface="FZYaYiHei GB18030L2 R"/>
                          <a:cs typeface="FZYaYiHei GB18030L2 R"/>
                        </a:rPr>
                        <a:t>，需体现跨学科性与IAS档案资源的契合度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06400"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参考文献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1页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精选最能支撑研究计划的文献，展示学术脉络把握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406400"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写作样本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3篇（已发表或校样）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必须来自同行评审来源，优先选择代表作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06400"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推荐信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2封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 gridSpan="1" rowSpan="1">
                  <a:txBody>
                    <a:bodyPr anchor="t" anchorCtr="false" bIns="104775" lIns="133350" rIns="133350" rot="0" tIns="104775" vert="horz" wrap="square"/>
                    <a:p>
                      <a:pPr algn="l">
                        <a:def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false" i="false" strike="noStrike" sz="1100">
                          <a:ln/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仅2020年后获博士学位者需要，需提前联系推荐人</a:t>
                      </a:r>
                      <a:endParaRPr/>
                    </a:p>
                  </a:txBody>
                  <a:tcPr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 txBox="true"/>
          <p:nvPr/>
        </p:nvSpPr>
        <p:spPr>
          <a:xfrm flipH="false" flipV="false" rot="0">
            <a:off x="457086" y="5806380"/>
            <a:ext cx="1127478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研究计划是核心决定性材料，推荐信要求因获博士时间而异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Application Strategy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申请策略与关键提醒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504950"/>
            <a:ext cx="11274781" cy="931366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flipH="false" flipV="false" rot="0">
            <a:off x="457086" y="1504950"/>
            <a:ext cx="9522" cy="931366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696267" y="1743075"/>
            <a:ext cx="161884" cy="161925"/>
          </a:xfrm>
          <a:custGeom>
            <a:rect b="b" l="l" r="r" t="t"/>
            <a:pathLst>
              <a:path h="10000" w="9998">
                <a:moveTo>
                  <a:pt x="3737" y="7619"/>
                </a:moveTo>
                <a:lnTo>
                  <a:pt x="4374" y="7619"/>
                </a:lnTo>
                <a:lnTo>
                  <a:pt x="4374" y="5238"/>
                </a:lnTo>
                <a:lnTo>
                  <a:pt x="5624" y="5238"/>
                </a:lnTo>
                <a:lnTo>
                  <a:pt x="5624" y="7619"/>
                </a:lnTo>
                <a:lnTo>
                  <a:pt x="6261" y="7619"/>
                </a:lnTo>
                <a:cubicBezTo>
                  <a:pt x="6303" y="7346"/>
                  <a:pt x="6419" y="7079"/>
                  <a:pt x="6611" y="6819"/>
                </a:cubicBezTo>
                <a:cubicBezTo>
                  <a:pt x="6777" y="6584"/>
                  <a:pt x="7023" y="6330"/>
                  <a:pt x="7349" y="6057"/>
                </a:cubicBezTo>
                <a:lnTo>
                  <a:pt x="7523" y="5914"/>
                </a:lnTo>
                <a:cubicBezTo>
                  <a:pt x="7765" y="5724"/>
                  <a:pt x="7898" y="5619"/>
                  <a:pt x="7923" y="5600"/>
                </a:cubicBezTo>
                <a:cubicBezTo>
                  <a:pt x="8189" y="5346"/>
                  <a:pt x="8394" y="5066"/>
                  <a:pt x="8536" y="4762"/>
                </a:cubicBezTo>
                <a:cubicBezTo>
                  <a:pt x="8677" y="4457"/>
                  <a:pt x="8748" y="4140"/>
                  <a:pt x="8748" y="3810"/>
                </a:cubicBezTo>
                <a:cubicBezTo>
                  <a:pt x="8748" y="3295"/>
                  <a:pt x="8577" y="2815"/>
                  <a:pt x="8236" y="2371"/>
                </a:cubicBezTo>
                <a:cubicBezTo>
                  <a:pt x="7902" y="1939"/>
                  <a:pt x="7452" y="1597"/>
                  <a:pt x="6886" y="1343"/>
                </a:cubicBezTo>
                <a:cubicBezTo>
                  <a:pt x="6302" y="1082"/>
                  <a:pt x="5673" y="952"/>
                  <a:pt x="4999" y="952"/>
                </a:cubicBezTo>
                <a:cubicBezTo>
                  <a:pt x="4324" y="952"/>
                  <a:pt x="3695" y="1082"/>
                  <a:pt x="3112" y="1343"/>
                </a:cubicBezTo>
                <a:cubicBezTo>
                  <a:pt x="2545" y="1597"/>
                  <a:pt x="2095" y="1939"/>
                  <a:pt x="1762" y="2371"/>
                </a:cubicBezTo>
                <a:cubicBezTo>
                  <a:pt x="1420" y="2815"/>
                  <a:pt x="1250" y="3295"/>
                  <a:pt x="1250" y="3810"/>
                </a:cubicBezTo>
                <a:cubicBezTo>
                  <a:pt x="1250" y="4140"/>
                  <a:pt x="1320" y="4457"/>
                  <a:pt x="1462" y="4762"/>
                </a:cubicBezTo>
                <a:cubicBezTo>
                  <a:pt x="1604" y="5066"/>
                  <a:pt x="1808" y="5342"/>
                  <a:pt x="2075" y="5590"/>
                </a:cubicBezTo>
                <a:cubicBezTo>
                  <a:pt x="2099" y="5616"/>
                  <a:pt x="2233" y="5724"/>
                  <a:pt x="2475" y="5914"/>
                </a:cubicBezTo>
                <a:lnTo>
                  <a:pt x="2649" y="6057"/>
                </a:lnTo>
                <a:cubicBezTo>
                  <a:pt x="2974" y="6330"/>
                  <a:pt x="3220" y="6584"/>
                  <a:pt x="3387" y="6819"/>
                </a:cubicBezTo>
                <a:cubicBezTo>
                  <a:pt x="3578" y="7079"/>
                  <a:pt x="3695" y="7346"/>
                  <a:pt x="3737" y="7619"/>
                </a:cubicBezTo>
                <a:moveTo>
                  <a:pt x="6249" y="8571"/>
                </a:moveTo>
                <a:lnTo>
                  <a:pt x="3749" y="8571"/>
                </a:lnTo>
                <a:lnTo>
                  <a:pt x="3749" y="9048"/>
                </a:lnTo>
                <a:lnTo>
                  <a:pt x="6249" y="9048"/>
                </a:lnTo>
                <a:lnTo>
                  <a:pt x="6249" y="8571"/>
                </a:lnTo>
                <a:moveTo>
                  <a:pt x="1100" y="6190"/>
                </a:moveTo>
                <a:cubicBezTo>
                  <a:pt x="750" y="5860"/>
                  <a:pt x="479" y="5495"/>
                  <a:pt x="287" y="5095"/>
                </a:cubicBezTo>
                <a:cubicBezTo>
                  <a:pt x="95" y="4682"/>
                  <a:pt x="0" y="4254"/>
                  <a:pt x="0" y="3810"/>
                </a:cubicBezTo>
                <a:cubicBezTo>
                  <a:pt x="0" y="3117"/>
                  <a:pt x="229" y="2476"/>
                  <a:pt x="687" y="1886"/>
                </a:cubicBezTo>
                <a:cubicBezTo>
                  <a:pt x="1129" y="1314"/>
                  <a:pt x="1725" y="860"/>
                  <a:pt x="2475" y="524"/>
                </a:cubicBezTo>
                <a:cubicBezTo>
                  <a:pt x="3249" y="174"/>
                  <a:pt x="4091" y="0"/>
                  <a:pt x="4999" y="0"/>
                </a:cubicBezTo>
                <a:cubicBezTo>
                  <a:pt x="5907" y="0"/>
                  <a:pt x="6748" y="174"/>
                  <a:pt x="7523" y="524"/>
                </a:cubicBezTo>
                <a:cubicBezTo>
                  <a:pt x="8273" y="860"/>
                  <a:pt x="8869" y="1314"/>
                  <a:pt x="9311" y="1886"/>
                </a:cubicBezTo>
                <a:cubicBezTo>
                  <a:pt x="9769" y="2476"/>
                  <a:pt x="9998" y="3117"/>
                  <a:pt x="9998" y="3810"/>
                </a:cubicBezTo>
                <a:cubicBezTo>
                  <a:pt x="9998" y="4254"/>
                  <a:pt x="9902" y="4682"/>
                  <a:pt x="9711" y="5095"/>
                </a:cubicBezTo>
                <a:cubicBezTo>
                  <a:pt x="9519" y="5495"/>
                  <a:pt x="9248" y="5860"/>
                  <a:pt x="8898" y="6190"/>
                </a:cubicBezTo>
                <a:cubicBezTo>
                  <a:pt x="8840" y="6247"/>
                  <a:pt x="8723" y="6342"/>
                  <a:pt x="8548" y="6476"/>
                </a:cubicBezTo>
                <a:cubicBezTo>
                  <a:pt x="8223" y="6736"/>
                  <a:pt x="7994" y="6943"/>
                  <a:pt x="7861" y="7095"/>
                </a:cubicBezTo>
                <a:cubicBezTo>
                  <a:pt x="7619" y="7361"/>
                  <a:pt x="7499" y="7615"/>
                  <a:pt x="7499" y="7857"/>
                </a:cubicBezTo>
                <a:lnTo>
                  <a:pt x="7499" y="9048"/>
                </a:lnTo>
                <a:cubicBezTo>
                  <a:pt x="7499" y="9219"/>
                  <a:pt x="7442" y="9378"/>
                  <a:pt x="7330" y="9524"/>
                </a:cubicBezTo>
                <a:cubicBezTo>
                  <a:pt x="7217" y="9670"/>
                  <a:pt x="7065" y="9785"/>
                  <a:pt x="6874" y="9871"/>
                </a:cubicBezTo>
                <a:cubicBezTo>
                  <a:pt x="6682" y="9957"/>
                  <a:pt x="6473" y="10000"/>
                  <a:pt x="6249" y="10000"/>
                </a:cubicBezTo>
                <a:lnTo>
                  <a:pt x="3749" y="10000"/>
                </a:lnTo>
                <a:cubicBezTo>
                  <a:pt x="3524" y="10000"/>
                  <a:pt x="3316" y="9957"/>
                  <a:pt x="3124" y="9871"/>
                </a:cubicBezTo>
                <a:cubicBezTo>
                  <a:pt x="2932" y="9785"/>
                  <a:pt x="2780" y="9670"/>
                  <a:pt x="2668" y="9524"/>
                </a:cubicBezTo>
                <a:cubicBezTo>
                  <a:pt x="2556" y="9378"/>
                  <a:pt x="2500" y="9219"/>
                  <a:pt x="2500" y="9048"/>
                </a:cubicBezTo>
                <a:lnTo>
                  <a:pt x="2500" y="7857"/>
                </a:lnTo>
                <a:cubicBezTo>
                  <a:pt x="2500" y="7615"/>
                  <a:pt x="2379" y="7361"/>
                  <a:pt x="2137" y="7095"/>
                </a:cubicBezTo>
                <a:cubicBezTo>
                  <a:pt x="2003" y="6943"/>
                  <a:pt x="1774" y="6736"/>
                  <a:pt x="1450" y="6476"/>
                </a:cubicBezTo>
                <a:cubicBezTo>
                  <a:pt x="1274" y="6342"/>
                  <a:pt x="1158" y="6247"/>
                  <a:pt x="1100" y="619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916403" y="1733550"/>
            <a:ext cx="11272549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成功的申请需要在研究计划中</a:t>
            </a:r>
            <a:r>
              <a:rPr b="tru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精准论证IAS独特资源的不可替代性</a:t>
            </a:r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——尤其是普林斯顿图书馆和档案馆的特藏对历史研究项目的支撑价值。同时，强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制性居住要求意味着申请者必须提前规划家庭安置、签证办理等后勤事项，或考虑短期访问等替代方案。</a:t>
            </a:r>
            <a:endParaRPr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431717" y="2798266"/>
            <a:ext cx="228543" cy="228600"/>
          </a:xfrm>
          <a:custGeom>
            <a:rect b="b" l="l" r="r" t="t"/>
            <a:pathLst>
              <a:path h="10000" w="9998">
                <a:moveTo>
                  <a:pt x="9498" y="9000"/>
                </a:moveTo>
                <a:lnTo>
                  <a:pt x="5499" y="9000"/>
                </a:lnTo>
                <a:lnTo>
                  <a:pt x="5499" y="10000"/>
                </a:lnTo>
                <a:lnTo>
                  <a:pt x="4499" y="10000"/>
                </a:lnTo>
                <a:lnTo>
                  <a:pt x="4499" y="9000"/>
                </a:lnTo>
                <a:lnTo>
                  <a:pt x="500" y="9000"/>
                </a:lnTo>
                <a:cubicBezTo>
                  <a:pt x="360" y="9000"/>
                  <a:pt x="241" y="8951"/>
                  <a:pt x="145" y="8855"/>
                </a:cubicBezTo>
                <a:cubicBezTo>
                  <a:pt x="48" y="8758"/>
                  <a:pt x="0" y="8640"/>
                  <a:pt x="0" y="8500"/>
                </a:cubicBezTo>
                <a:lnTo>
                  <a:pt x="0" y="500"/>
                </a:lnTo>
                <a:cubicBezTo>
                  <a:pt x="0" y="360"/>
                  <a:pt x="48" y="241"/>
                  <a:pt x="145" y="145"/>
                </a:cubicBezTo>
                <a:cubicBezTo>
                  <a:pt x="241" y="48"/>
                  <a:pt x="360" y="0"/>
                  <a:pt x="500" y="0"/>
                </a:cubicBezTo>
                <a:lnTo>
                  <a:pt x="3499" y="0"/>
                </a:lnTo>
                <a:cubicBezTo>
                  <a:pt x="3792" y="0"/>
                  <a:pt x="4069" y="60"/>
                  <a:pt x="4329" y="180"/>
                </a:cubicBezTo>
                <a:cubicBezTo>
                  <a:pt x="4589" y="300"/>
                  <a:pt x="4812" y="466"/>
                  <a:pt x="4999" y="680"/>
                </a:cubicBezTo>
                <a:cubicBezTo>
                  <a:pt x="5185" y="466"/>
                  <a:pt x="5409" y="300"/>
                  <a:pt x="5669" y="180"/>
                </a:cubicBezTo>
                <a:cubicBezTo>
                  <a:pt x="5929" y="60"/>
                  <a:pt x="6205" y="0"/>
                  <a:pt x="6499" y="0"/>
                </a:cubicBezTo>
                <a:lnTo>
                  <a:pt x="9498" y="0"/>
                </a:lnTo>
                <a:cubicBezTo>
                  <a:pt x="9638" y="0"/>
                  <a:pt x="9756" y="48"/>
                  <a:pt x="9853" y="145"/>
                </a:cubicBezTo>
                <a:cubicBezTo>
                  <a:pt x="9949" y="241"/>
                  <a:pt x="9998" y="360"/>
                  <a:pt x="9998" y="500"/>
                </a:cubicBezTo>
                <a:lnTo>
                  <a:pt x="9998" y="8500"/>
                </a:lnTo>
                <a:cubicBezTo>
                  <a:pt x="9998" y="8640"/>
                  <a:pt x="9949" y="8758"/>
                  <a:pt x="9853" y="8855"/>
                </a:cubicBezTo>
                <a:cubicBezTo>
                  <a:pt x="9756" y="8951"/>
                  <a:pt x="9638" y="9000"/>
                  <a:pt x="9498" y="9000"/>
                </a:cubicBezTo>
                <a:moveTo>
                  <a:pt x="5499" y="8000"/>
                </a:moveTo>
                <a:lnTo>
                  <a:pt x="8998" y="8000"/>
                </a:lnTo>
                <a:lnTo>
                  <a:pt x="8998" y="1000"/>
                </a:lnTo>
                <a:lnTo>
                  <a:pt x="6499" y="1000"/>
                </a:lnTo>
                <a:cubicBezTo>
                  <a:pt x="6319" y="1000"/>
                  <a:pt x="6152" y="1045"/>
                  <a:pt x="5999" y="1135"/>
                </a:cubicBezTo>
                <a:cubicBezTo>
                  <a:pt x="5845" y="1225"/>
                  <a:pt x="5724" y="1346"/>
                  <a:pt x="5634" y="1500"/>
                </a:cubicBezTo>
                <a:cubicBezTo>
                  <a:pt x="5544" y="1653"/>
                  <a:pt x="5499" y="1820"/>
                  <a:pt x="5499" y="2000"/>
                </a:cubicBezTo>
                <a:lnTo>
                  <a:pt x="5499" y="8000"/>
                </a:lnTo>
                <a:moveTo>
                  <a:pt x="1000" y="8000"/>
                </a:moveTo>
                <a:lnTo>
                  <a:pt x="4499" y="8000"/>
                </a:lnTo>
                <a:lnTo>
                  <a:pt x="4499" y="2000"/>
                </a:lnTo>
                <a:cubicBezTo>
                  <a:pt x="4499" y="1820"/>
                  <a:pt x="4454" y="1653"/>
                  <a:pt x="4364" y="1500"/>
                </a:cubicBezTo>
                <a:cubicBezTo>
                  <a:pt x="4274" y="1346"/>
                  <a:pt x="4152" y="1225"/>
                  <a:pt x="3999" y="1135"/>
                </a:cubicBezTo>
                <a:cubicBezTo>
                  <a:pt x="3845" y="1045"/>
                  <a:pt x="3679" y="1000"/>
                  <a:pt x="3499" y="1000"/>
                </a:cubicBezTo>
                <a:lnTo>
                  <a:pt x="1000" y="1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749163" y="2788741"/>
            <a:ext cx="2342565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研究计划的跨学科定位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440199" y="3476328"/>
            <a:ext cx="152362" cy="152400"/>
          </a:xfrm>
          <a:custGeom>
            <a:rect b="b" l="l" r="r" t="t"/>
            <a:pathLst>
              <a:path h="10000" w="9998">
                <a:moveTo>
                  <a:pt x="2999" y="4500"/>
                </a:moveTo>
                <a:lnTo>
                  <a:pt x="4999" y="4500"/>
                </a:lnTo>
                <a:lnTo>
                  <a:pt x="4999" y="3000"/>
                </a:lnTo>
                <a:lnTo>
                  <a:pt x="6999" y="5000"/>
                </a:lnTo>
                <a:lnTo>
                  <a:pt x="4999" y="7000"/>
                </a:lnTo>
                <a:lnTo>
                  <a:pt x="4999" y="5500"/>
                </a:lnTo>
                <a:lnTo>
                  <a:pt x="2999" y="5500"/>
                </a:lnTo>
                <a:lnTo>
                  <a:pt x="2999" y="4500"/>
                </a:lnTo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689944" y="3322141"/>
            <a:ext cx="5214080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针对历史研究方向，需明确展示与</a:t>
            </a:r>
            <a:r>
              <a:rPr b="tru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科学史、东亚史或全球史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的跨学科对话潜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力，避免单一学科视角的局限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440199" y="4146649"/>
            <a:ext cx="152362" cy="152400"/>
          </a:xfrm>
          <a:custGeom>
            <a:rect b="b" l="l" r="r" t="t"/>
            <a:pathLst>
              <a:path h="10000" w="9998">
                <a:moveTo>
                  <a:pt x="2999" y="4500"/>
                </a:moveTo>
                <a:lnTo>
                  <a:pt x="4999" y="4500"/>
                </a:lnTo>
                <a:lnTo>
                  <a:pt x="4999" y="3000"/>
                </a:lnTo>
                <a:lnTo>
                  <a:pt x="6999" y="5000"/>
                </a:lnTo>
                <a:lnTo>
                  <a:pt x="4999" y="7000"/>
                </a:lnTo>
                <a:lnTo>
                  <a:pt x="4999" y="5500"/>
                </a:lnTo>
                <a:lnTo>
                  <a:pt x="2999" y="5500"/>
                </a:lnTo>
                <a:lnTo>
                  <a:pt x="2999" y="4500"/>
                </a:lnTo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689944" y="3992463"/>
            <a:ext cx="5218394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必须精准论证</a:t>
            </a:r>
            <a:r>
              <a:rPr b="tru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普林斯顿特藏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（如东亚图书馆、科学史档案）对项目的不可替代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性，阐明为何必须在IAS完成此项研究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 flipH="false" flipV="false" rot="0">
            <a:off x="457086" y="5857875"/>
            <a:ext cx="5446937" cy="5429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619045" y="6043612"/>
            <a:ext cx="171407" cy="171450"/>
          </a:xfrm>
          <a:custGeom>
            <a:rect b="b" l="l" r="r" t="t"/>
            <a:pathLst>
              <a:path h="10000" w="9998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8889"/>
                </a:moveTo>
                <a:lnTo>
                  <a:pt x="8998" y="2356"/>
                </a:lnTo>
                <a:lnTo>
                  <a:pt x="5039" y="6300"/>
                </a:lnTo>
                <a:lnTo>
                  <a:pt x="1000" y="2344"/>
                </a:lnTo>
                <a:lnTo>
                  <a:pt x="1000" y="8889"/>
                </a:lnTo>
                <a:lnTo>
                  <a:pt x="8998" y="8889"/>
                </a:lnTo>
                <a:moveTo>
                  <a:pt x="8748" y="1111"/>
                </a:moveTo>
                <a:lnTo>
                  <a:pt x="1260" y="1111"/>
                </a:lnTo>
                <a:lnTo>
                  <a:pt x="5029" y="4811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866708" y="6048375"/>
            <a:ext cx="227040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任何疑问可咨询 </a:t>
            </a:r>
            <a:r>
              <a:rPr b="false" i="false" strike="noStrike" sz="1000">
                <a:ln/>
                <a:solidFill>
                  <a:srgbClr val="5B8CB8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hsappquery@ias.edu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259559" y="2798266"/>
            <a:ext cx="228543" cy="228600"/>
          </a:xfrm>
          <a:custGeom>
            <a:rect b="b" l="l" r="r" t="t"/>
            <a:pathLst>
              <a:path h="10000" w="9998">
                <a:moveTo>
                  <a:pt x="2272" y="3971"/>
                </a:moveTo>
                <a:lnTo>
                  <a:pt x="2272" y="8982"/>
                </a:lnTo>
                <a:lnTo>
                  <a:pt x="7726" y="8982"/>
                </a:lnTo>
                <a:lnTo>
                  <a:pt x="7726" y="3971"/>
                </a:lnTo>
                <a:lnTo>
                  <a:pt x="4999" y="1191"/>
                </a:lnTo>
                <a:lnTo>
                  <a:pt x="2272" y="3971"/>
                </a:lnTo>
                <a:moveTo>
                  <a:pt x="8180" y="10000"/>
                </a:moveTo>
                <a:lnTo>
                  <a:pt x="1818" y="10000"/>
                </a:lnTo>
                <a:cubicBezTo>
                  <a:pt x="1690" y="10000"/>
                  <a:pt x="1583" y="9950"/>
                  <a:pt x="1495" y="9852"/>
                </a:cubicBezTo>
                <a:cubicBezTo>
                  <a:pt x="1407" y="9754"/>
                  <a:pt x="1363" y="9633"/>
                  <a:pt x="1363" y="9491"/>
                </a:cubicBezTo>
                <a:lnTo>
                  <a:pt x="1363" y="4908"/>
                </a:lnTo>
                <a:lnTo>
                  <a:pt x="0" y="4908"/>
                </a:lnTo>
                <a:lnTo>
                  <a:pt x="4690" y="132"/>
                </a:lnTo>
                <a:cubicBezTo>
                  <a:pt x="4780" y="44"/>
                  <a:pt x="4883" y="0"/>
                  <a:pt x="4999" y="0"/>
                </a:cubicBezTo>
                <a:cubicBezTo>
                  <a:pt x="5114" y="0"/>
                  <a:pt x="5217" y="44"/>
                  <a:pt x="5308" y="132"/>
                </a:cubicBezTo>
                <a:lnTo>
                  <a:pt x="9998" y="4908"/>
                </a:lnTo>
                <a:lnTo>
                  <a:pt x="8635" y="4908"/>
                </a:lnTo>
                <a:lnTo>
                  <a:pt x="8635" y="9491"/>
                </a:lnTo>
                <a:cubicBezTo>
                  <a:pt x="8635" y="9633"/>
                  <a:pt x="8591" y="9754"/>
                  <a:pt x="8503" y="9852"/>
                </a:cubicBezTo>
                <a:cubicBezTo>
                  <a:pt x="8415" y="9950"/>
                  <a:pt x="8307" y="10000"/>
                  <a:pt x="8180" y="10000"/>
                </a:cubicBezTo>
                <a:moveTo>
                  <a:pt x="2954" y="5927"/>
                </a:moveTo>
                <a:lnTo>
                  <a:pt x="3863" y="5927"/>
                </a:lnTo>
                <a:cubicBezTo>
                  <a:pt x="3863" y="6157"/>
                  <a:pt x="3914" y="6371"/>
                  <a:pt x="4017" y="6568"/>
                </a:cubicBezTo>
                <a:cubicBezTo>
                  <a:pt x="4120" y="6765"/>
                  <a:pt x="4258" y="6920"/>
                  <a:pt x="4431" y="7032"/>
                </a:cubicBezTo>
                <a:cubicBezTo>
                  <a:pt x="4603" y="7144"/>
                  <a:pt x="4793" y="7200"/>
                  <a:pt x="4999" y="7200"/>
                </a:cubicBezTo>
                <a:cubicBezTo>
                  <a:pt x="5205" y="7200"/>
                  <a:pt x="5394" y="7144"/>
                  <a:pt x="5567" y="7032"/>
                </a:cubicBezTo>
                <a:cubicBezTo>
                  <a:pt x="5739" y="6920"/>
                  <a:pt x="5877" y="6765"/>
                  <a:pt x="5981" y="6568"/>
                </a:cubicBezTo>
                <a:cubicBezTo>
                  <a:pt x="6083" y="6371"/>
                  <a:pt x="6135" y="6157"/>
                  <a:pt x="6135" y="5927"/>
                </a:cubicBezTo>
                <a:lnTo>
                  <a:pt x="7044" y="5927"/>
                </a:lnTo>
                <a:cubicBezTo>
                  <a:pt x="7044" y="6341"/>
                  <a:pt x="6951" y="6724"/>
                  <a:pt x="6767" y="7077"/>
                </a:cubicBezTo>
                <a:cubicBezTo>
                  <a:pt x="6582" y="7430"/>
                  <a:pt x="6334" y="7708"/>
                  <a:pt x="6022" y="7912"/>
                </a:cubicBezTo>
                <a:cubicBezTo>
                  <a:pt x="5709" y="8116"/>
                  <a:pt x="5368" y="8218"/>
                  <a:pt x="4999" y="8218"/>
                </a:cubicBezTo>
                <a:cubicBezTo>
                  <a:pt x="4629" y="8218"/>
                  <a:pt x="4288" y="8116"/>
                  <a:pt x="3976" y="7912"/>
                </a:cubicBezTo>
                <a:cubicBezTo>
                  <a:pt x="3664" y="7708"/>
                  <a:pt x="3415" y="7430"/>
                  <a:pt x="3231" y="7077"/>
                </a:cubicBezTo>
                <a:cubicBezTo>
                  <a:pt x="3046" y="6724"/>
                  <a:pt x="2954" y="6341"/>
                  <a:pt x="2954" y="5927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577005" y="2788741"/>
            <a:ext cx="2114022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居住安排与替代方案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6227793" y="3476328"/>
            <a:ext cx="152362" cy="152400"/>
          </a:xfrm>
          <a:custGeom>
            <a:rect b="b" l="l" r="r" t="t"/>
            <a:pathLst>
              <a:path h="10000" w="9998">
                <a:moveTo>
                  <a:pt x="2160" y="6371"/>
                </a:moveTo>
                <a:lnTo>
                  <a:pt x="4999" y="8685"/>
                </a:lnTo>
                <a:lnTo>
                  <a:pt x="7838" y="6371"/>
                </a:lnTo>
                <a:cubicBezTo>
                  <a:pt x="8358" y="5954"/>
                  <a:pt x="8711" y="5463"/>
                  <a:pt x="8895" y="4897"/>
                </a:cubicBezTo>
                <a:cubicBezTo>
                  <a:pt x="9071" y="4343"/>
                  <a:pt x="9071" y="3790"/>
                  <a:pt x="8895" y="3237"/>
                </a:cubicBezTo>
                <a:cubicBezTo>
                  <a:pt x="8711" y="2671"/>
                  <a:pt x="8360" y="2178"/>
                  <a:pt x="7843" y="1758"/>
                </a:cubicBezTo>
                <a:cubicBezTo>
                  <a:pt x="7326" y="1338"/>
                  <a:pt x="6719" y="1054"/>
                  <a:pt x="6022" y="905"/>
                </a:cubicBezTo>
                <a:cubicBezTo>
                  <a:pt x="5340" y="761"/>
                  <a:pt x="4658" y="761"/>
                  <a:pt x="3976" y="905"/>
                </a:cubicBezTo>
                <a:cubicBezTo>
                  <a:pt x="3278" y="1054"/>
                  <a:pt x="2671" y="1338"/>
                  <a:pt x="2155" y="1758"/>
                </a:cubicBezTo>
                <a:cubicBezTo>
                  <a:pt x="1637" y="2178"/>
                  <a:pt x="1287" y="2671"/>
                  <a:pt x="1103" y="3237"/>
                </a:cubicBezTo>
                <a:cubicBezTo>
                  <a:pt x="927" y="3790"/>
                  <a:pt x="927" y="4343"/>
                  <a:pt x="1103" y="4897"/>
                </a:cubicBezTo>
                <a:cubicBezTo>
                  <a:pt x="1287" y="5463"/>
                  <a:pt x="1639" y="5954"/>
                  <a:pt x="2160" y="6371"/>
                </a:cubicBezTo>
                <a:moveTo>
                  <a:pt x="8653" y="7034"/>
                </a:moveTo>
                <a:lnTo>
                  <a:pt x="4999" y="10000"/>
                </a:lnTo>
                <a:lnTo>
                  <a:pt x="1345" y="7034"/>
                </a:lnTo>
                <a:cubicBezTo>
                  <a:pt x="678" y="6498"/>
                  <a:pt x="230" y="5864"/>
                  <a:pt x="0" y="5131"/>
                </a:cubicBezTo>
                <a:cubicBezTo>
                  <a:pt x="-230" y="4421"/>
                  <a:pt x="-230" y="3712"/>
                  <a:pt x="0" y="3004"/>
                </a:cubicBezTo>
                <a:cubicBezTo>
                  <a:pt x="230" y="2270"/>
                  <a:pt x="676" y="1634"/>
                  <a:pt x="1339" y="1096"/>
                </a:cubicBezTo>
                <a:cubicBezTo>
                  <a:pt x="2001" y="558"/>
                  <a:pt x="2785" y="192"/>
                  <a:pt x="3689" y="0"/>
                </a:cubicBezTo>
                <a:cubicBezTo>
                  <a:pt x="4562" y="-180"/>
                  <a:pt x="5435" y="-180"/>
                  <a:pt x="6309" y="0"/>
                </a:cubicBezTo>
                <a:cubicBezTo>
                  <a:pt x="7213" y="192"/>
                  <a:pt x="7996" y="558"/>
                  <a:pt x="8659" y="1096"/>
                </a:cubicBezTo>
                <a:cubicBezTo>
                  <a:pt x="9321" y="1634"/>
                  <a:pt x="9768" y="2270"/>
                  <a:pt x="9998" y="3004"/>
                </a:cubicBezTo>
                <a:cubicBezTo>
                  <a:pt x="10228" y="3712"/>
                  <a:pt x="10228" y="4421"/>
                  <a:pt x="9998" y="5131"/>
                </a:cubicBezTo>
                <a:cubicBezTo>
                  <a:pt x="9768" y="5864"/>
                  <a:pt x="9319" y="6498"/>
                  <a:pt x="8653" y="7034"/>
                </a:cubicBezTo>
                <a:moveTo>
                  <a:pt x="4999" y="5000"/>
                </a:moveTo>
                <a:cubicBezTo>
                  <a:pt x="5205" y="5000"/>
                  <a:pt x="5397" y="4958"/>
                  <a:pt x="5574" y="4874"/>
                </a:cubicBezTo>
                <a:cubicBezTo>
                  <a:pt x="5750" y="4790"/>
                  <a:pt x="5889" y="4676"/>
                  <a:pt x="5993" y="4534"/>
                </a:cubicBezTo>
                <a:cubicBezTo>
                  <a:pt x="6096" y="4390"/>
                  <a:pt x="6148" y="4235"/>
                  <a:pt x="6148" y="4067"/>
                </a:cubicBezTo>
                <a:cubicBezTo>
                  <a:pt x="6148" y="3899"/>
                  <a:pt x="6096" y="3743"/>
                  <a:pt x="5993" y="3601"/>
                </a:cubicBezTo>
                <a:cubicBezTo>
                  <a:pt x="5889" y="3457"/>
                  <a:pt x="5750" y="3344"/>
                  <a:pt x="5574" y="3260"/>
                </a:cubicBezTo>
                <a:cubicBezTo>
                  <a:pt x="5397" y="3176"/>
                  <a:pt x="5205" y="3134"/>
                  <a:pt x="4999" y="3134"/>
                </a:cubicBezTo>
                <a:cubicBezTo>
                  <a:pt x="4792" y="3134"/>
                  <a:pt x="4600" y="3176"/>
                  <a:pt x="4424" y="3260"/>
                </a:cubicBezTo>
                <a:cubicBezTo>
                  <a:pt x="4248" y="3344"/>
                  <a:pt x="4108" y="3457"/>
                  <a:pt x="4005" y="3601"/>
                </a:cubicBezTo>
                <a:cubicBezTo>
                  <a:pt x="3901" y="3743"/>
                  <a:pt x="3850" y="3899"/>
                  <a:pt x="3850" y="4067"/>
                </a:cubicBezTo>
                <a:cubicBezTo>
                  <a:pt x="3850" y="4235"/>
                  <a:pt x="3901" y="4390"/>
                  <a:pt x="4005" y="4534"/>
                </a:cubicBezTo>
                <a:cubicBezTo>
                  <a:pt x="4108" y="4676"/>
                  <a:pt x="4248" y="4790"/>
                  <a:pt x="4424" y="4874"/>
                </a:cubicBezTo>
                <a:cubicBezTo>
                  <a:pt x="4600" y="4958"/>
                  <a:pt x="4792" y="5000"/>
                  <a:pt x="4999" y="5000"/>
                </a:cubicBezTo>
                <a:moveTo>
                  <a:pt x="4999" y="5933"/>
                </a:moveTo>
                <a:cubicBezTo>
                  <a:pt x="4585" y="5933"/>
                  <a:pt x="4202" y="5849"/>
                  <a:pt x="3850" y="5681"/>
                </a:cubicBezTo>
                <a:cubicBezTo>
                  <a:pt x="3497" y="5513"/>
                  <a:pt x="3217" y="5286"/>
                  <a:pt x="3011" y="5000"/>
                </a:cubicBezTo>
                <a:cubicBezTo>
                  <a:pt x="2804" y="4714"/>
                  <a:pt x="2701" y="4401"/>
                  <a:pt x="2701" y="4063"/>
                </a:cubicBezTo>
                <a:cubicBezTo>
                  <a:pt x="2701" y="3723"/>
                  <a:pt x="2804" y="3412"/>
                  <a:pt x="3011" y="3130"/>
                </a:cubicBezTo>
                <a:cubicBezTo>
                  <a:pt x="3217" y="2846"/>
                  <a:pt x="3497" y="2621"/>
                  <a:pt x="3850" y="2453"/>
                </a:cubicBezTo>
                <a:cubicBezTo>
                  <a:pt x="4202" y="2285"/>
                  <a:pt x="4585" y="2201"/>
                  <a:pt x="4999" y="2201"/>
                </a:cubicBezTo>
                <a:cubicBezTo>
                  <a:pt x="5413" y="2201"/>
                  <a:pt x="5796" y="2285"/>
                  <a:pt x="6148" y="2453"/>
                </a:cubicBezTo>
                <a:cubicBezTo>
                  <a:pt x="6500" y="2621"/>
                  <a:pt x="6780" y="2846"/>
                  <a:pt x="6987" y="3130"/>
                </a:cubicBezTo>
                <a:cubicBezTo>
                  <a:pt x="7193" y="3412"/>
                  <a:pt x="7297" y="3723"/>
                  <a:pt x="7297" y="4063"/>
                </a:cubicBezTo>
                <a:cubicBezTo>
                  <a:pt x="7297" y="4401"/>
                  <a:pt x="7193" y="4714"/>
                  <a:pt x="6987" y="5000"/>
                </a:cubicBezTo>
                <a:cubicBezTo>
                  <a:pt x="6780" y="5286"/>
                  <a:pt x="6500" y="5513"/>
                  <a:pt x="6148" y="5681"/>
                </a:cubicBezTo>
                <a:cubicBezTo>
                  <a:pt x="5796" y="5849"/>
                  <a:pt x="5413" y="5933"/>
                  <a:pt x="4999" y="593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6437290" y="3322141"/>
            <a:ext cx="5294577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强制性居住要求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意味着需提前规划家庭安置、子女教育、配偶工作及国际学者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签证等实际问题，预算中需考虑普林斯顿地区生活成本</a:t>
            </a:r>
            <a:endParaRPr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6268041" y="4146649"/>
            <a:ext cx="152362" cy="152400"/>
          </a:xfrm>
          <a:custGeom>
            <a:rect b="b" l="l" r="r" t="t"/>
            <a:pathLst>
              <a:path h="10000" w="9998">
                <a:moveTo>
                  <a:pt x="2500" y="0"/>
                </a:moveTo>
                <a:lnTo>
                  <a:pt x="3499" y="0"/>
                </a:lnTo>
                <a:lnTo>
                  <a:pt x="3499" y="1000"/>
                </a:lnTo>
                <a:lnTo>
                  <a:pt x="6499" y="1000"/>
                </a:lnTo>
                <a:lnTo>
                  <a:pt x="6499" y="0"/>
                </a:lnTo>
                <a:lnTo>
                  <a:pt x="7499" y="0"/>
                </a:lnTo>
                <a:lnTo>
                  <a:pt x="7499" y="1000"/>
                </a:lnTo>
                <a:lnTo>
                  <a:pt x="9498" y="1000"/>
                </a:lnTo>
                <a:cubicBezTo>
                  <a:pt x="9638" y="1000"/>
                  <a:pt x="9756" y="1048"/>
                  <a:pt x="9853" y="1145"/>
                </a:cubicBezTo>
                <a:cubicBezTo>
                  <a:pt x="9949" y="1241"/>
                  <a:pt x="9998" y="1360"/>
                  <a:pt x="9998" y="1500"/>
                </a:cubicBezTo>
                <a:lnTo>
                  <a:pt x="9998" y="9500"/>
                </a:lnTo>
                <a:cubicBezTo>
                  <a:pt x="9998" y="9640"/>
                  <a:pt x="9949" y="9758"/>
                  <a:pt x="9853" y="9855"/>
                </a:cubicBezTo>
                <a:cubicBezTo>
                  <a:pt x="9756" y="9951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51"/>
                  <a:pt x="145" y="9855"/>
                </a:cubicBezTo>
                <a:cubicBezTo>
                  <a:pt x="48" y="9758"/>
                  <a:pt x="0" y="9640"/>
                  <a:pt x="0" y="9500"/>
                </a:cubicBezTo>
                <a:lnTo>
                  <a:pt x="0" y="1500"/>
                </a:lnTo>
                <a:cubicBezTo>
                  <a:pt x="0" y="1360"/>
                  <a:pt x="48" y="1241"/>
                  <a:pt x="145" y="1145"/>
                </a:cubicBezTo>
                <a:cubicBezTo>
                  <a:pt x="241" y="1048"/>
                  <a:pt x="360" y="1000"/>
                  <a:pt x="500" y="1000"/>
                </a:cubicBezTo>
                <a:lnTo>
                  <a:pt x="2500" y="1000"/>
                </a:lnTo>
                <a:lnTo>
                  <a:pt x="2500" y="0"/>
                </a:lnTo>
                <a:moveTo>
                  <a:pt x="8998" y="9000"/>
                </a:moveTo>
                <a:lnTo>
                  <a:pt x="8998" y="4500"/>
                </a:lnTo>
                <a:lnTo>
                  <a:pt x="1000" y="4500"/>
                </a:lnTo>
                <a:lnTo>
                  <a:pt x="1000" y="9000"/>
                </a:lnTo>
                <a:lnTo>
                  <a:pt x="8998" y="9000"/>
                </a:lnTo>
                <a:moveTo>
                  <a:pt x="4749" y="6840"/>
                </a:moveTo>
                <a:lnTo>
                  <a:pt x="6519" y="5070"/>
                </a:lnTo>
                <a:lnTo>
                  <a:pt x="7219" y="5780"/>
                </a:lnTo>
                <a:lnTo>
                  <a:pt x="4749" y="8250"/>
                </a:lnTo>
                <a:lnTo>
                  <a:pt x="2979" y="6480"/>
                </a:lnTo>
                <a:lnTo>
                  <a:pt x="3689" y="5780"/>
                </a:lnTo>
                <a:lnTo>
                  <a:pt x="4749" y="6840"/>
                </a:lnTo>
                <a:moveTo>
                  <a:pt x="2500" y="2500"/>
                </a:moveTo>
                <a:lnTo>
                  <a:pt x="2500" y="2000"/>
                </a:lnTo>
                <a:lnTo>
                  <a:pt x="1000" y="2000"/>
                </a:lnTo>
                <a:lnTo>
                  <a:pt x="1000" y="3500"/>
                </a:lnTo>
                <a:lnTo>
                  <a:pt x="8998" y="3500"/>
                </a:lnTo>
                <a:lnTo>
                  <a:pt x="8998" y="2000"/>
                </a:lnTo>
                <a:lnTo>
                  <a:pt x="7499" y="2000"/>
                </a:lnTo>
                <a:lnTo>
                  <a:pt x="7499" y="2500"/>
                </a:lnTo>
                <a:lnTo>
                  <a:pt x="6499" y="2500"/>
                </a:lnTo>
                <a:lnTo>
                  <a:pt x="6499" y="2000"/>
                </a:lnTo>
                <a:lnTo>
                  <a:pt x="3499" y="2000"/>
                </a:lnTo>
                <a:lnTo>
                  <a:pt x="3499" y="2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6517786" y="3992463"/>
            <a:ext cx="5214080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如无法承诺全学期居住，可邮件咨询 </a:t>
            </a:r>
            <a:r>
              <a:rPr b="tru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HSao@ias.edu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申请无津贴短期访问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（Visitorship），虽无资助但可保留部分研究机会</a:t>
            </a:r>
            <a:endParaRPr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6284928" y="5857875"/>
            <a:ext cx="5446937" cy="5429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6446887" y="6043612"/>
            <a:ext cx="171407" cy="1714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3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3500"/>
                </a:lnTo>
                <a:lnTo>
                  <a:pt x="4499" y="3500"/>
                </a:lnTo>
                <a:moveTo>
                  <a:pt x="4499" y="7500"/>
                </a:moveTo>
                <a:lnTo>
                  <a:pt x="4499" y="4500"/>
                </a:lnTo>
                <a:lnTo>
                  <a:pt x="5499" y="4500"/>
                </a:lnTo>
                <a:lnTo>
                  <a:pt x="5499" y="750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6694550" y="6048375"/>
            <a:ext cx="203784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及时咨询可避免误解导致申请失误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ACTION ROADMAP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33425"/>
            <a:ext cx="11274781" cy="4000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28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下一步行动路线图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291530"/>
            <a:ext cx="9522" cy="678061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647537" y="1424880"/>
            <a:ext cx="11541413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申请者应立即启动资格确认与文书规划的双重准备：首先核对博士获得时间与资助通道匹配度，其次围绕IAS跨学科传统打磨研究计划，最后为2027年1月可能的视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频面试做准备。10月15日的截止日期要求现在就开始行动，而非等到秋季。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60091"/>
            <a:ext cx="3631242" cy="352633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160091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657135" y="2422028"/>
            <a:ext cx="171407" cy="171450"/>
          </a:xfrm>
          <a:custGeom>
            <a:rect b="b" l="l" r="r" t="t"/>
            <a:pathLst>
              <a:path h="10000" w="9998">
                <a:moveTo>
                  <a:pt x="3226" y="3538"/>
                </a:moveTo>
                <a:lnTo>
                  <a:pt x="4844" y="6478"/>
                </a:lnTo>
                <a:lnTo>
                  <a:pt x="5483" y="7641"/>
                </a:lnTo>
                <a:lnTo>
                  <a:pt x="9358" y="615"/>
                </a:lnTo>
                <a:lnTo>
                  <a:pt x="9998" y="1794"/>
                </a:lnTo>
                <a:lnTo>
                  <a:pt x="5483" y="10000"/>
                </a:lnTo>
                <a:lnTo>
                  <a:pt x="2577" y="4701"/>
                </a:lnTo>
                <a:lnTo>
                  <a:pt x="3226" y="3538"/>
                </a:lnTo>
                <a:moveTo>
                  <a:pt x="5483" y="5299"/>
                </a:moveTo>
                <a:lnTo>
                  <a:pt x="4844" y="4120"/>
                </a:lnTo>
                <a:lnTo>
                  <a:pt x="7101" y="0"/>
                </a:lnTo>
                <a:lnTo>
                  <a:pt x="7750" y="1179"/>
                </a:lnTo>
                <a:lnTo>
                  <a:pt x="5483" y="5299"/>
                </a:lnTo>
                <a:moveTo>
                  <a:pt x="1289" y="4701"/>
                </a:moveTo>
                <a:lnTo>
                  <a:pt x="3555" y="8821"/>
                </a:lnTo>
                <a:lnTo>
                  <a:pt x="2906" y="10000"/>
                </a:lnTo>
                <a:lnTo>
                  <a:pt x="0" y="4701"/>
                </a:lnTo>
                <a:lnTo>
                  <a:pt x="640" y="3538"/>
                </a:lnTo>
                <a:lnTo>
                  <a:pt x="1289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885753" y="2441078"/>
            <a:ext cx="53192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STEP 01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76106" y="2769691"/>
            <a:ext cx="3193202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资格通道确认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676106" y="3141166"/>
            <a:ext cx="3412222" cy="8323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立即核对博士获得时间与发表记录，精准匹配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梅隆奖</a:t>
            </a:r>
            <a:endParaRPr lang="en-US" sz="1100"/>
          </a:p>
          <a:p>
            <a:pPr algn="l"/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学金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（2020.1-2026.7获博士且现任助理教授）、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博士后</a:t>
            </a:r>
            <a:endParaRPr/>
          </a:p>
          <a:p>
            <a:pPr algn="l"/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奖学金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（2024.7-2026.8获博士）或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普通会员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通道，确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认资格窗口。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676106" y="5143500"/>
            <a:ext cx="319320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dash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661302" y="5319712"/>
            <a:ext cx="133317" cy="1333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2500"/>
                </a:moveTo>
                <a:lnTo>
                  <a:pt x="5499" y="5000"/>
                </a:lnTo>
                <a:lnTo>
                  <a:pt x="7498" y="5000"/>
                </a:lnTo>
                <a:lnTo>
                  <a:pt x="7498" y="6000"/>
                </a:lnTo>
                <a:lnTo>
                  <a:pt x="4499" y="6000"/>
                </a:lnTo>
                <a:lnTo>
                  <a:pt x="4499" y="2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836949" y="5319712"/>
            <a:ext cx="87935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建议用时：1-2周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4278780" y="2160091"/>
            <a:ext cx="3631242" cy="352633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 flipH="false" flipV="false" rot="0">
            <a:off x="4278780" y="2160091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4478830" y="2422028"/>
            <a:ext cx="171407" cy="171450"/>
          </a:xfrm>
          <a:custGeom>
            <a:rect b="b" l="l" r="r" t="t"/>
            <a:pathLst>
              <a:path h="10000" w="9998">
                <a:moveTo>
                  <a:pt x="8909" y="500"/>
                </a:moveTo>
                <a:lnTo>
                  <a:pt x="8909" y="2380"/>
                </a:lnTo>
                <a:lnTo>
                  <a:pt x="7919" y="3380"/>
                </a:lnTo>
                <a:lnTo>
                  <a:pt x="7919" y="1000"/>
                </a:lnTo>
                <a:lnTo>
                  <a:pt x="3465" y="1000"/>
                </a:lnTo>
                <a:lnTo>
                  <a:pt x="3465" y="3500"/>
                </a:lnTo>
                <a:lnTo>
                  <a:pt x="990" y="3500"/>
                </a:lnTo>
                <a:lnTo>
                  <a:pt x="990" y="9000"/>
                </a:lnTo>
                <a:lnTo>
                  <a:pt x="7919" y="9000"/>
                </a:lnTo>
                <a:lnTo>
                  <a:pt x="7919" y="7620"/>
                </a:lnTo>
                <a:lnTo>
                  <a:pt x="8909" y="6620"/>
                </a:lnTo>
                <a:lnTo>
                  <a:pt x="8909" y="9500"/>
                </a:lnTo>
                <a:cubicBezTo>
                  <a:pt x="8909" y="9640"/>
                  <a:pt x="8861" y="9758"/>
                  <a:pt x="8766" y="9855"/>
                </a:cubicBezTo>
                <a:cubicBezTo>
                  <a:pt x="8670" y="9951"/>
                  <a:pt x="8556" y="10000"/>
                  <a:pt x="8424" y="10000"/>
                </a:cubicBezTo>
                <a:lnTo>
                  <a:pt x="495" y="10000"/>
                </a:lnTo>
                <a:cubicBezTo>
                  <a:pt x="356" y="10000"/>
                  <a:pt x="239" y="9951"/>
                  <a:pt x="144" y="9855"/>
                </a:cubicBezTo>
                <a:cubicBezTo>
                  <a:pt x="48" y="9758"/>
                  <a:pt x="0" y="9640"/>
                  <a:pt x="0" y="9500"/>
                </a:cubicBezTo>
                <a:lnTo>
                  <a:pt x="0" y="3000"/>
                </a:lnTo>
                <a:lnTo>
                  <a:pt x="2970" y="0"/>
                </a:lnTo>
                <a:lnTo>
                  <a:pt x="8414" y="0"/>
                </a:lnTo>
                <a:cubicBezTo>
                  <a:pt x="8552" y="0"/>
                  <a:pt x="8670" y="48"/>
                  <a:pt x="8766" y="145"/>
                </a:cubicBezTo>
                <a:cubicBezTo>
                  <a:pt x="8861" y="241"/>
                  <a:pt x="8909" y="360"/>
                  <a:pt x="8909" y="500"/>
                </a:cubicBezTo>
                <a:moveTo>
                  <a:pt x="5444" y="7290"/>
                </a:moveTo>
                <a:lnTo>
                  <a:pt x="9295" y="3400"/>
                </a:lnTo>
                <a:lnTo>
                  <a:pt x="9998" y="4110"/>
                </a:lnTo>
                <a:lnTo>
                  <a:pt x="6147" y="8000"/>
                </a:lnTo>
                <a:lnTo>
                  <a:pt x="5444" y="8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4707447" y="2441078"/>
            <a:ext cx="53192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STEP 02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4497800" y="2769691"/>
            <a:ext cx="3193202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研究计划撰写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4497800" y="3141166"/>
            <a:ext cx="3412222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即刻构思如何与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IAS跨学科传统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对话，论证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普林斯顿档</a:t>
            </a:r>
            <a:endParaRPr lang="en-US" sz="1100"/>
          </a:p>
          <a:p>
            <a:pPr algn="l"/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案资源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的不可替代性，预留至少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3个月打磨周期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，确保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10月15日前提交高质量文书。</a:t>
            </a:r>
            <a:endParaRPr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4497800" y="5143500"/>
            <a:ext cx="319320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dash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 flipH="false" flipV="false" rot="0">
            <a:off x="4482996" y="5319712"/>
            <a:ext cx="133317" cy="133350"/>
          </a:xfrm>
          <a:custGeom>
            <a:rect b="b" l="l" r="r" t="t"/>
            <a:pathLst>
              <a:path h="10000" w="9998">
                <a:moveTo>
                  <a:pt x="2499" y="0"/>
                </a:moveTo>
                <a:lnTo>
                  <a:pt x="3499" y="0"/>
                </a:lnTo>
                <a:lnTo>
                  <a:pt x="3499" y="1000"/>
                </a:lnTo>
                <a:lnTo>
                  <a:pt x="6499" y="1000"/>
                </a:lnTo>
                <a:lnTo>
                  <a:pt x="6499" y="0"/>
                </a:lnTo>
                <a:lnTo>
                  <a:pt x="7498" y="0"/>
                </a:lnTo>
                <a:lnTo>
                  <a:pt x="7498" y="1000"/>
                </a:lnTo>
                <a:lnTo>
                  <a:pt x="9498" y="1000"/>
                </a:lnTo>
                <a:cubicBezTo>
                  <a:pt x="9638" y="1000"/>
                  <a:pt x="9756" y="1048"/>
                  <a:pt x="9853" y="1145"/>
                </a:cubicBezTo>
                <a:cubicBezTo>
                  <a:pt x="9949" y="1241"/>
                  <a:pt x="9998" y="1360"/>
                  <a:pt x="9998" y="1500"/>
                </a:cubicBezTo>
                <a:lnTo>
                  <a:pt x="9998" y="9500"/>
                </a:lnTo>
                <a:cubicBezTo>
                  <a:pt x="9998" y="9640"/>
                  <a:pt x="9949" y="9758"/>
                  <a:pt x="9853" y="9855"/>
                </a:cubicBezTo>
                <a:cubicBezTo>
                  <a:pt x="9756" y="9951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51"/>
                  <a:pt x="145" y="9855"/>
                </a:cubicBezTo>
                <a:cubicBezTo>
                  <a:pt x="48" y="9758"/>
                  <a:pt x="0" y="9640"/>
                  <a:pt x="0" y="9500"/>
                </a:cubicBezTo>
                <a:lnTo>
                  <a:pt x="0" y="1500"/>
                </a:lnTo>
                <a:cubicBezTo>
                  <a:pt x="0" y="1360"/>
                  <a:pt x="48" y="1241"/>
                  <a:pt x="145" y="1145"/>
                </a:cubicBezTo>
                <a:cubicBezTo>
                  <a:pt x="241" y="1048"/>
                  <a:pt x="360" y="1000"/>
                  <a:pt x="500" y="1000"/>
                </a:cubicBezTo>
                <a:lnTo>
                  <a:pt x="2499" y="1000"/>
                </a:lnTo>
                <a:lnTo>
                  <a:pt x="2499" y="0"/>
                </a:lnTo>
                <a:moveTo>
                  <a:pt x="8998" y="9000"/>
                </a:moveTo>
                <a:lnTo>
                  <a:pt x="8998" y="5000"/>
                </a:lnTo>
                <a:lnTo>
                  <a:pt x="1000" y="5000"/>
                </a:lnTo>
                <a:lnTo>
                  <a:pt x="1000" y="9000"/>
                </a:lnTo>
                <a:lnTo>
                  <a:pt x="8998" y="9000"/>
                </a:lnTo>
                <a:moveTo>
                  <a:pt x="2499" y="3000"/>
                </a:moveTo>
                <a:lnTo>
                  <a:pt x="2499" y="2000"/>
                </a:lnTo>
                <a:lnTo>
                  <a:pt x="1000" y="2000"/>
                </a:lnTo>
                <a:lnTo>
                  <a:pt x="1000" y="4000"/>
                </a:lnTo>
                <a:lnTo>
                  <a:pt x="8998" y="4000"/>
                </a:lnTo>
                <a:lnTo>
                  <a:pt x="8998" y="2000"/>
                </a:lnTo>
                <a:lnTo>
                  <a:pt x="7498" y="2000"/>
                </a:lnTo>
                <a:lnTo>
                  <a:pt x="7498" y="3000"/>
                </a:lnTo>
                <a:lnTo>
                  <a:pt x="6499" y="3000"/>
                </a:lnTo>
                <a:lnTo>
                  <a:pt x="6499" y="2000"/>
                </a:lnTo>
                <a:lnTo>
                  <a:pt x="3499" y="2000"/>
                </a:lnTo>
                <a:lnTo>
                  <a:pt x="3499" y="3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4658643" y="5319712"/>
            <a:ext cx="89215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核心周期：3个月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 flipH="false" flipV="false" rot="0">
            <a:off x="8100475" y="2160091"/>
            <a:ext cx="3631242" cy="352633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 flipH="false" flipV="false" rot="0">
            <a:off x="8100475" y="2160091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 flipH="false" flipV="false" rot="0">
            <a:off x="8300524" y="2422028"/>
            <a:ext cx="171407" cy="171450"/>
          </a:xfrm>
          <a:custGeom>
            <a:rect b="b" l="l" r="r" t="t"/>
            <a:pathLst>
              <a:path h="10000" w="9998">
                <a:moveTo>
                  <a:pt x="0" y="9444"/>
                </a:move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moveTo>
                  <a:pt x="8887" y="1111"/>
                </a:moveTo>
                <a:lnTo>
                  <a:pt x="1111" y="1111"/>
                </a:lnTo>
                <a:lnTo>
                  <a:pt x="1111" y="8889"/>
                </a:lnTo>
                <a:lnTo>
                  <a:pt x="8887" y="8889"/>
                </a:lnTo>
                <a:lnTo>
                  <a:pt x="8887" y="1111"/>
                </a:lnTo>
                <a:moveTo>
                  <a:pt x="4232" y="3011"/>
                </a:moveTo>
                <a:lnTo>
                  <a:pt x="6943" y="4811"/>
                </a:lnTo>
                <a:cubicBezTo>
                  <a:pt x="6995" y="4848"/>
                  <a:pt x="7026" y="4896"/>
                  <a:pt x="7037" y="4956"/>
                </a:cubicBezTo>
                <a:cubicBezTo>
                  <a:pt x="7048" y="5014"/>
                  <a:pt x="7039" y="5070"/>
                  <a:pt x="7010" y="5122"/>
                </a:cubicBezTo>
                <a:cubicBezTo>
                  <a:pt x="6987" y="5144"/>
                  <a:pt x="6965" y="5167"/>
                  <a:pt x="6943" y="5189"/>
                </a:cubicBezTo>
                <a:lnTo>
                  <a:pt x="4232" y="6989"/>
                </a:lnTo>
                <a:cubicBezTo>
                  <a:pt x="4180" y="7025"/>
                  <a:pt x="4125" y="7038"/>
                  <a:pt x="4066" y="7028"/>
                </a:cubicBezTo>
                <a:cubicBezTo>
                  <a:pt x="4006" y="7016"/>
                  <a:pt x="3958" y="6985"/>
                  <a:pt x="3921" y="6933"/>
                </a:cubicBezTo>
                <a:cubicBezTo>
                  <a:pt x="3899" y="6896"/>
                  <a:pt x="3888" y="6855"/>
                  <a:pt x="3888" y="6811"/>
                </a:cubicBezTo>
                <a:lnTo>
                  <a:pt x="3888" y="3189"/>
                </a:lnTo>
                <a:cubicBezTo>
                  <a:pt x="3888" y="3129"/>
                  <a:pt x="3910" y="3077"/>
                  <a:pt x="3955" y="3033"/>
                </a:cubicBezTo>
                <a:cubicBezTo>
                  <a:pt x="3999" y="2989"/>
                  <a:pt x="4050" y="2967"/>
                  <a:pt x="4110" y="2967"/>
                </a:cubicBezTo>
                <a:cubicBezTo>
                  <a:pt x="4154" y="2967"/>
                  <a:pt x="4195" y="2981"/>
                  <a:pt x="4232" y="301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true"/>
          <p:nvPr/>
        </p:nvSpPr>
        <p:spPr>
          <a:xfrm flipH="false" flipV="false" rot="0">
            <a:off x="8529142" y="2441078"/>
            <a:ext cx="53192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STEP 03</a:t>
            </a:r>
            <a:endParaRPr lang="en-US" sz="1100"/>
          </a:p>
        </p:txBody>
      </p:sp>
      <p:sp>
        <p:nvSpPr>
          <p:cNvPr id="29" name="TextBox 29"/>
          <p:cNvSpPr txBox="true"/>
          <p:nvPr/>
        </p:nvSpPr>
        <p:spPr>
          <a:xfrm flipH="false" flipV="false" rot="0">
            <a:off x="8319496" y="2769691"/>
            <a:ext cx="3193202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面试准备并行</a:t>
            </a:r>
            <a:endParaRPr lang="en-US" sz="1100"/>
          </a:p>
        </p:txBody>
      </p:sp>
      <p:sp>
        <p:nvSpPr>
          <p:cNvPr id="30" name="TextBox 30"/>
          <p:cNvSpPr txBox="true"/>
          <p:nvPr/>
        </p:nvSpPr>
        <p:spPr>
          <a:xfrm flipH="false" flipV="false" rot="0">
            <a:off x="8319496" y="3141166"/>
            <a:ext cx="3412222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梅隆通道申请者需在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2027年1月15日前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做好视频面试准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备，普通会员申请者也应准备进入短名单后的快速响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应，同时建立与</a:t>
            </a:r>
            <a:r>
              <a:rPr b="tru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推荐人的提前沟通</a:t>
            </a:r>
            <a:r>
              <a:rPr b="false" i="false" strike="noStrike" sz="1000">
                <a:ln/>
                <a:solidFill>
                  <a:srgbClr val="0A1F3D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/>
          </a:p>
        </p:txBody>
      </p:sp>
      <p:sp>
        <p:nvSpPr>
          <p:cNvPr id="31" name="AutoShape 31"/>
          <p:cNvSpPr/>
          <p:nvPr/>
        </p:nvSpPr>
        <p:spPr>
          <a:xfrm flipH="false" flipV="false" rot="0">
            <a:off x="8319496" y="5143500"/>
            <a:ext cx="319320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dash"/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 flipH="false" flipV="false" rot="0">
            <a:off x="8304691" y="5319712"/>
            <a:ext cx="133317" cy="133350"/>
          </a:xfrm>
          <a:custGeom>
            <a:rect b="b" l="l" r="r" t="t"/>
            <a:pathLst>
              <a:path h="10000" w="9998">
                <a:moveTo>
                  <a:pt x="5262" y="6314"/>
                </a:moveTo>
                <a:lnTo>
                  <a:pt x="5262" y="7305"/>
                </a:lnTo>
                <a:cubicBezTo>
                  <a:pt x="4925" y="7197"/>
                  <a:pt x="4574" y="7143"/>
                  <a:pt x="4210" y="7143"/>
                </a:cubicBezTo>
                <a:cubicBezTo>
                  <a:pt x="3641" y="7143"/>
                  <a:pt x="3111" y="7273"/>
                  <a:pt x="2621" y="7533"/>
                </a:cubicBezTo>
                <a:cubicBezTo>
                  <a:pt x="2143" y="7787"/>
                  <a:pt x="1764" y="8130"/>
                  <a:pt x="1484" y="8562"/>
                </a:cubicBezTo>
                <a:cubicBezTo>
                  <a:pt x="1196" y="9006"/>
                  <a:pt x="1052" y="9486"/>
                  <a:pt x="1052" y="10000"/>
                </a:cubicBezTo>
                <a:lnTo>
                  <a:pt x="0" y="10000"/>
                </a:lnTo>
                <a:cubicBezTo>
                  <a:pt x="0" y="9308"/>
                  <a:pt x="193" y="8666"/>
                  <a:pt x="579" y="8076"/>
                </a:cubicBezTo>
                <a:cubicBezTo>
                  <a:pt x="951" y="7504"/>
                  <a:pt x="1452" y="7050"/>
                  <a:pt x="2084" y="6714"/>
                </a:cubicBezTo>
                <a:cubicBezTo>
                  <a:pt x="2736" y="6364"/>
                  <a:pt x="3445" y="6190"/>
                  <a:pt x="4210" y="6190"/>
                </a:cubicBezTo>
                <a:cubicBezTo>
                  <a:pt x="4567" y="6190"/>
                  <a:pt x="4918" y="6231"/>
                  <a:pt x="5262" y="6314"/>
                </a:cubicBezTo>
                <a:moveTo>
                  <a:pt x="4210" y="5714"/>
                </a:moveTo>
                <a:cubicBezTo>
                  <a:pt x="3634" y="5714"/>
                  <a:pt x="3105" y="5584"/>
                  <a:pt x="2621" y="5324"/>
                </a:cubicBezTo>
                <a:cubicBezTo>
                  <a:pt x="2143" y="5070"/>
                  <a:pt x="1764" y="4727"/>
                  <a:pt x="1484" y="4295"/>
                </a:cubicBezTo>
                <a:cubicBezTo>
                  <a:pt x="1196" y="3857"/>
                  <a:pt x="1052" y="3377"/>
                  <a:pt x="1052" y="2857"/>
                </a:cubicBezTo>
                <a:cubicBezTo>
                  <a:pt x="1052" y="2336"/>
                  <a:pt x="1196" y="1857"/>
                  <a:pt x="1484" y="1419"/>
                </a:cubicBezTo>
                <a:cubicBezTo>
                  <a:pt x="1764" y="987"/>
                  <a:pt x="2143" y="644"/>
                  <a:pt x="2621" y="390"/>
                </a:cubicBezTo>
                <a:cubicBezTo>
                  <a:pt x="3105" y="130"/>
                  <a:pt x="3634" y="0"/>
                  <a:pt x="4210" y="0"/>
                </a:cubicBezTo>
                <a:cubicBezTo>
                  <a:pt x="4785" y="0"/>
                  <a:pt x="5315" y="130"/>
                  <a:pt x="5799" y="390"/>
                </a:cubicBezTo>
                <a:cubicBezTo>
                  <a:pt x="6275" y="644"/>
                  <a:pt x="6654" y="987"/>
                  <a:pt x="6935" y="1419"/>
                </a:cubicBezTo>
                <a:cubicBezTo>
                  <a:pt x="7223" y="1857"/>
                  <a:pt x="7367" y="2336"/>
                  <a:pt x="7367" y="2857"/>
                </a:cubicBezTo>
                <a:cubicBezTo>
                  <a:pt x="7367" y="3377"/>
                  <a:pt x="7223" y="3857"/>
                  <a:pt x="6935" y="4295"/>
                </a:cubicBezTo>
                <a:cubicBezTo>
                  <a:pt x="6654" y="4727"/>
                  <a:pt x="6275" y="5070"/>
                  <a:pt x="5799" y="5324"/>
                </a:cubicBezTo>
                <a:cubicBezTo>
                  <a:pt x="5315" y="5584"/>
                  <a:pt x="4785" y="5714"/>
                  <a:pt x="4210" y="5714"/>
                </a:cubicBezTo>
                <a:moveTo>
                  <a:pt x="4210" y="4762"/>
                </a:moveTo>
                <a:cubicBezTo>
                  <a:pt x="4588" y="4762"/>
                  <a:pt x="4939" y="4676"/>
                  <a:pt x="5262" y="4505"/>
                </a:cubicBezTo>
                <a:cubicBezTo>
                  <a:pt x="5584" y="4333"/>
                  <a:pt x="5840" y="4102"/>
                  <a:pt x="6030" y="3810"/>
                </a:cubicBezTo>
                <a:cubicBezTo>
                  <a:pt x="6220" y="3517"/>
                  <a:pt x="6315" y="3199"/>
                  <a:pt x="6315" y="2857"/>
                </a:cubicBezTo>
                <a:cubicBezTo>
                  <a:pt x="6315" y="2514"/>
                  <a:pt x="6220" y="2197"/>
                  <a:pt x="6030" y="1905"/>
                </a:cubicBezTo>
                <a:cubicBezTo>
                  <a:pt x="5840" y="1613"/>
                  <a:pt x="5584" y="1381"/>
                  <a:pt x="5262" y="1210"/>
                </a:cubicBezTo>
                <a:cubicBezTo>
                  <a:pt x="4939" y="1038"/>
                  <a:pt x="4588" y="952"/>
                  <a:pt x="4210" y="952"/>
                </a:cubicBezTo>
                <a:cubicBezTo>
                  <a:pt x="3830" y="952"/>
                  <a:pt x="3479" y="1038"/>
                  <a:pt x="3157" y="1210"/>
                </a:cubicBezTo>
                <a:cubicBezTo>
                  <a:pt x="2834" y="1381"/>
                  <a:pt x="2578" y="1613"/>
                  <a:pt x="2389" y="1905"/>
                </a:cubicBezTo>
                <a:cubicBezTo>
                  <a:pt x="2199" y="2197"/>
                  <a:pt x="2105" y="2514"/>
                  <a:pt x="2105" y="2857"/>
                </a:cubicBezTo>
                <a:cubicBezTo>
                  <a:pt x="2105" y="3199"/>
                  <a:pt x="2199" y="3517"/>
                  <a:pt x="2389" y="3810"/>
                </a:cubicBezTo>
                <a:cubicBezTo>
                  <a:pt x="2578" y="4102"/>
                  <a:pt x="2834" y="4333"/>
                  <a:pt x="3157" y="4505"/>
                </a:cubicBezTo>
                <a:cubicBezTo>
                  <a:pt x="3479" y="4676"/>
                  <a:pt x="3830" y="4762"/>
                  <a:pt x="4210" y="4762"/>
                </a:cubicBezTo>
                <a:moveTo>
                  <a:pt x="5788" y="7619"/>
                </a:moveTo>
                <a:lnTo>
                  <a:pt x="7367" y="7619"/>
                </a:lnTo>
                <a:lnTo>
                  <a:pt x="7367" y="6190"/>
                </a:lnTo>
                <a:lnTo>
                  <a:pt x="8419" y="6190"/>
                </a:lnTo>
                <a:lnTo>
                  <a:pt x="8419" y="7619"/>
                </a:lnTo>
                <a:lnTo>
                  <a:pt x="9998" y="7619"/>
                </a:lnTo>
                <a:lnTo>
                  <a:pt x="9998" y="8571"/>
                </a:lnTo>
                <a:lnTo>
                  <a:pt x="8419" y="8571"/>
                </a:lnTo>
                <a:lnTo>
                  <a:pt x="8419" y="10000"/>
                </a:lnTo>
                <a:lnTo>
                  <a:pt x="7367" y="10000"/>
                </a:lnTo>
                <a:lnTo>
                  <a:pt x="7367" y="8571"/>
                </a:lnTo>
                <a:lnTo>
                  <a:pt x="5788" y="857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33"/>
          <p:cNvSpPr txBox="true"/>
          <p:nvPr/>
        </p:nvSpPr>
        <p:spPr>
          <a:xfrm flipH="false" flipV="false" rot="0">
            <a:off x="8480339" y="5319712"/>
            <a:ext cx="105701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同步启动推荐人沟通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 flipH="false" flipV="false" rot="0">
            <a:off x="457086" y="5876925"/>
            <a:ext cx="11274781" cy="523875"/>
          </a:xfrm>
          <a:prstGeom prst="rect">
            <a:avLst/>
          </a:pr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5" name="AutoShape 35"/>
          <p:cNvSpPr/>
          <p:nvPr/>
        </p:nvSpPr>
        <p:spPr>
          <a:xfrm flipH="false" flipV="false" rot="0">
            <a:off x="4114739" y="6053138"/>
            <a:ext cx="171407" cy="171450"/>
          </a:xfrm>
          <a:custGeom>
            <a:rect b="b" l="l" r="r" t="t"/>
            <a:pathLst>
              <a:path h="10000" w="9998">
                <a:moveTo>
                  <a:pt x="2500" y="0"/>
                </a:moveTo>
                <a:lnTo>
                  <a:pt x="3499" y="0"/>
                </a:lnTo>
                <a:lnTo>
                  <a:pt x="3499" y="1000"/>
                </a:lnTo>
                <a:lnTo>
                  <a:pt x="6499" y="1000"/>
                </a:lnTo>
                <a:lnTo>
                  <a:pt x="6499" y="0"/>
                </a:lnTo>
                <a:lnTo>
                  <a:pt x="7498" y="0"/>
                </a:lnTo>
                <a:lnTo>
                  <a:pt x="7498" y="1000"/>
                </a:lnTo>
                <a:lnTo>
                  <a:pt x="9498" y="1000"/>
                </a:lnTo>
                <a:cubicBezTo>
                  <a:pt x="9638" y="1000"/>
                  <a:pt x="9756" y="1048"/>
                  <a:pt x="9853" y="1145"/>
                </a:cubicBezTo>
                <a:cubicBezTo>
                  <a:pt x="9949" y="1241"/>
                  <a:pt x="9998" y="1360"/>
                  <a:pt x="9998" y="1500"/>
                </a:cubicBezTo>
                <a:lnTo>
                  <a:pt x="9998" y="9500"/>
                </a:lnTo>
                <a:cubicBezTo>
                  <a:pt x="9998" y="9640"/>
                  <a:pt x="9949" y="9758"/>
                  <a:pt x="9853" y="9855"/>
                </a:cubicBezTo>
                <a:cubicBezTo>
                  <a:pt x="9756" y="9951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51"/>
                  <a:pt x="145" y="9855"/>
                </a:cubicBezTo>
                <a:cubicBezTo>
                  <a:pt x="48" y="9758"/>
                  <a:pt x="0" y="9640"/>
                  <a:pt x="0" y="9500"/>
                </a:cubicBezTo>
                <a:lnTo>
                  <a:pt x="0" y="1500"/>
                </a:lnTo>
                <a:cubicBezTo>
                  <a:pt x="0" y="1360"/>
                  <a:pt x="48" y="1241"/>
                  <a:pt x="145" y="1145"/>
                </a:cubicBezTo>
                <a:cubicBezTo>
                  <a:pt x="241" y="1048"/>
                  <a:pt x="360" y="1000"/>
                  <a:pt x="500" y="1000"/>
                </a:cubicBezTo>
                <a:lnTo>
                  <a:pt x="2500" y="1000"/>
                </a:lnTo>
                <a:lnTo>
                  <a:pt x="2500" y="0"/>
                </a:lnTo>
                <a:moveTo>
                  <a:pt x="8998" y="9000"/>
                </a:moveTo>
                <a:lnTo>
                  <a:pt x="8998" y="4500"/>
                </a:lnTo>
                <a:lnTo>
                  <a:pt x="1000" y="4500"/>
                </a:lnTo>
                <a:lnTo>
                  <a:pt x="1000" y="9000"/>
                </a:lnTo>
                <a:lnTo>
                  <a:pt x="8998" y="9000"/>
                </a:lnTo>
                <a:moveTo>
                  <a:pt x="4749" y="6840"/>
                </a:moveTo>
                <a:lnTo>
                  <a:pt x="6519" y="5070"/>
                </a:lnTo>
                <a:lnTo>
                  <a:pt x="7219" y="5780"/>
                </a:lnTo>
                <a:lnTo>
                  <a:pt x="4749" y="8250"/>
                </a:lnTo>
                <a:lnTo>
                  <a:pt x="2979" y="6480"/>
                </a:lnTo>
                <a:lnTo>
                  <a:pt x="3689" y="5780"/>
                </a:lnTo>
                <a:lnTo>
                  <a:pt x="4749" y="6840"/>
                </a:lnTo>
                <a:moveTo>
                  <a:pt x="2500" y="2500"/>
                </a:moveTo>
                <a:lnTo>
                  <a:pt x="2500" y="2000"/>
                </a:lnTo>
                <a:lnTo>
                  <a:pt x="1000" y="2000"/>
                </a:lnTo>
                <a:lnTo>
                  <a:pt x="1000" y="3500"/>
                </a:lnTo>
                <a:lnTo>
                  <a:pt x="8998" y="3500"/>
                </a:lnTo>
                <a:lnTo>
                  <a:pt x="8998" y="2000"/>
                </a:lnTo>
                <a:lnTo>
                  <a:pt x="7498" y="2000"/>
                </a:lnTo>
                <a:lnTo>
                  <a:pt x="7498" y="2500"/>
                </a:lnTo>
                <a:lnTo>
                  <a:pt x="6499" y="2500"/>
                </a:lnTo>
                <a:lnTo>
                  <a:pt x="6499" y="2000"/>
                </a:lnTo>
                <a:lnTo>
                  <a:pt x="3499" y="2000"/>
                </a:lnTo>
                <a:lnTo>
                  <a:pt x="3499" y="2500"/>
                </a:lnTo>
              </a:path>
            </a:pathLst>
          </a:cu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true"/>
          <p:nvPr/>
        </p:nvSpPr>
        <p:spPr>
          <a:xfrm flipH="false" flipV="false" rot="0">
            <a:off x="4381447" y="6053138"/>
            <a:ext cx="371173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F1F3F5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关键截止日期：</a:t>
            </a:r>
            <a:r>
              <a:rPr b="true" i="false" strike="noStrike" sz="1200">
                <a:ln/>
                <a:solidFill>
                  <a:srgbClr val="F1F3F5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2025年10月15日</a:t>
            </a:r>
            <a:r>
              <a:rPr b="false" i="false" strike="noStrike" sz="1000">
                <a:ln/>
                <a:solidFill>
                  <a:srgbClr val="F1F3F5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 — 现在启动，而非等到秋季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440" r="44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1F3D">
              <a:alpha val="6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1871344" y="1882379"/>
            <a:ext cx="8446266" cy="150852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把握机遇</a:t>
            </a:r>
            <a:endParaRPr lang="en-US" sz="1100"/>
          </a:p>
          <a:p>
            <a:pPr algn="ctr"/>
            <a:r>
              <a:rPr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开启学术新篇章</a:t>
            </a:r>
            <a:endParaRPr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2261622" y="3657600"/>
            <a:ext cx="7665709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true" bIns="0" lIns="0" rIns="0" rtlCol="false" tIns="0" vert="horz" wrap="non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普林斯顿高等研究院期待您的加入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5266812" y="4728031"/>
            <a:ext cx="198070" cy="198120"/>
          </a:xfrm>
          <a:custGeom>
            <a:rect b="b" l="l" r="r" t="t"/>
            <a:pathLst>
              <a:path h="10000" w="9998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8889"/>
                </a:moveTo>
                <a:lnTo>
                  <a:pt x="8998" y="2356"/>
                </a:lnTo>
                <a:lnTo>
                  <a:pt x="5039" y="6300"/>
                </a:lnTo>
                <a:lnTo>
                  <a:pt x="1000" y="2344"/>
                </a:lnTo>
                <a:lnTo>
                  <a:pt x="1000" y="8889"/>
                </a:lnTo>
                <a:lnTo>
                  <a:pt x="8998" y="8889"/>
                </a:lnTo>
                <a:moveTo>
                  <a:pt x="8748" y="1111"/>
                </a:moveTo>
                <a:lnTo>
                  <a:pt x="1260" y="1111"/>
                </a:lnTo>
                <a:lnTo>
                  <a:pt x="5029" y="481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557192" y="4738985"/>
            <a:ext cx="138092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application@ias.edu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